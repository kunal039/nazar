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2"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8" r:id="rId11"/>
    <p:sldId id="270" r:id="rId12"/>
    <p:sldId id="269" r:id="rId13"/>
    <p:sldId id="272" r:id="rId14"/>
    <p:sldId id="271" r:id="rId15"/>
    <p:sldId id="265" r:id="rId16"/>
    <p:sldId id="267" r:id="rId17"/>
    <p:sldId id="266" r:id="rId18"/>
  </p:sldIdLst>
  <p:sldSz cx="12192000" cy="6858000"/>
  <p:notesSz cx="6858000" cy="12192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300" b="1">
                <a:solidFill>
                  <a:srgbClr val="1E1612"/>
                </a:solidFill>
                <a:latin typeface="Calibri"/>
              </a:rPr>
              <a:t>Lost to “digital arrest” scams (₹ crore)</a:t>
            </a:r>
          </a:p>
        </c:rich>
      </c:tx>
      <c:overlay val="0"/>
    </c:title>
    <c:autoTitleDeleted val="0"/>
    <c:plotArea>
      <c:layout/>
      <c:barChart>
        <c:barDir val="col"/>
        <c:grouping val="clustered"/>
        <c:varyColors val="1"/>
        <c:ser>
          <c:idx val="0"/>
          <c:order val="0"/>
          <c:tx>
            <c:strRef>
              <c:f>Sheet1!$B$1</c:f>
              <c:strCache>
                <c:ptCount val="1"/>
                <c:pt idx="0">
                  <c:v>Loss (₹ crore)</c:v>
                </c:pt>
              </c:strCache>
            </c:strRef>
          </c:tx>
          <c:invertIfNegative val="1"/>
          <c:dPt>
            <c:idx val="0"/>
            <c:invertIfNegative val="1"/>
            <c:bubble3D val="0"/>
            <c:spPr>
              <a:solidFill>
                <a:srgbClr val="F2C27A"/>
              </a:solidFill>
            </c:spPr>
            <c:extLst>
              <c:ext xmlns:c16="http://schemas.microsoft.com/office/drawing/2014/chart" uri="{C3380CC4-5D6E-409C-BE32-E72D297353CC}">
                <c16:uniqueId val="{00000001-160C-4C0A-BC4D-7D27528B05D1}"/>
              </c:ext>
            </c:extLst>
          </c:dPt>
          <c:dPt>
            <c:idx val="1"/>
            <c:invertIfNegative val="1"/>
            <c:bubble3D val="0"/>
            <c:spPr>
              <a:solidFill>
                <a:srgbClr val="8B2E16"/>
              </a:solidFill>
            </c:spPr>
            <c:extLst>
              <c:ext xmlns:c16="http://schemas.microsoft.com/office/drawing/2014/chart" uri="{C3380CC4-5D6E-409C-BE32-E72D297353CC}">
                <c16:uniqueId val="{00000003-160C-4C0A-BC4D-7D27528B05D1}"/>
              </c:ext>
            </c:extLst>
          </c:dPt>
          <c:dLbls>
            <c:numFmt formatCode="#,##0" sourceLinked="0"/>
            <c:spPr>
              <a:noFill/>
              <a:ln>
                <a:noFill/>
              </a:ln>
              <a:effectLst/>
            </c:spPr>
            <c:txPr>
              <a:bodyPr/>
              <a:lstStyle/>
              <a:p>
                <a:pPr>
                  <a:defRPr sz="1300" b="1">
                    <a:solidFill>
                      <a:srgbClr val="1E1612"/>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2022</c:v>
                </c:pt>
                <c:pt idx="1">
                  <c:v>2024</c:v>
                </c:pt>
              </c:strCache>
            </c:strRef>
          </c:cat>
          <c:val>
            <c:numRef>
              <c:f>Sheet1!$B$2:$B$3</c:f>
              <c:numCache>
                <c:formatCode>General</c:formatCode>
                <c:ptCount val="2"/>
                <c:pt idx="0">
                  <c:v>91.14</c:v>
                </c:pt>
                <c:pt idx="1">
                  <c:v>1935.51</c:v>
                </c:pt>
              </c:numCache>
            </c:numRef>
          </c:val>
          <c:extLst>
            <c:ext xmlns:c16="http://schemas.microsoft.com/office/drawing/2014/chart" uri="{C3380CC4-5D6E-409C-BE32-E72D297353CC}">
              <c16:uniqueId val="{00000004-160C-4C0A-BC4D-7D27528B05D1}"/>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E5D3BE"/>
            </a:solidFill>
          </a:ln>
        </c:spPr>
        <c:txPr>
          <a:bodyPr/>
          <a:lstStyle/>
          <a:p>
            <a:pPr>
              <a:defRPr sz="1300">
                <a:solidFill>
                  <a:srgbClr val="1E1612"/>
                </a:solidFill>
                <a:latin typeface="Calibri"/>
              </a:defRPr>
            </a:pPr>
            <a:endParaRPr lang="en-US"/>
          </a:p>
        </c:txPr>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spPr>
    <a:noFill/>
    <a:ln>
      <a:noFill/>
    </a:ln>
  </c:spPr>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Scam risk</c:v>
                </c:pt>
              </c:strCache>
            </c:strRef>
          </c:tx>
          <c:spPr>
            <a:ln w="31750">
              <a:solidFill>
                <a:srgbClr val="8B2E16"/>
              </a:solidFill>
            </a:ln>
          </c:spPr>
          <c:cat>
            <c:strRef>
              <c:f>Sheet1!$A$2:$A$7</c:f>
              <c:strCache>
                <c:ptCount val="6"/>
                <c:pt idx="0">
                  <c:v>Line 1</c:v>
                </c:pt>
                <c:pt idx="1">
                  <c:v>Line 2</c:v>
                </c:pt>
                <c:pt idx="2">
                  <c:v>Line 3</c:v>
                </c:pt>
                <c:pt idx="3">
                  <c:v>Line 4</c:v>
                </c:pt>
                <c:pt idx="4">
                  <c:v>Line 5</c:v>
                </c:pt>
                <c:pt idx="5">
                  <c:v>Line 6</c:v>
                </c:pt>
              </c:strCache>
            </c:strRef>
          </c:cat>
          <c:val>
            <c:numRef>
              <c:f>Sheet1!$B$2:$B$7</c:f>
              <c:numCache>
                <c:formatCode>General</c:formatCode>
                <c:ptCount val="6"/>
                <c:pt idx="0">
                  <c:v>28</c:v>
                </c:pt>
                <c:pt idx="1">
                  <c:v>61</c:v>
                </c:pt>
                <c:pt idx="2">
                  <c:v>70</c:v>
                </c:pt>
                <c:pt idx="3">
                  <c:v>100</c:v>
                </c:pt>
                <c:pt idx="4">
                  <c:v>100</c:v>
                </c:pt>
                <c:pt idx="5">
                  <c:v>100</c:v>
                </c:pt>
              </c:numCache>
            </c:numRef>
          </c:val>
          <c:smooth val="0"/>
          <c:extLst>
            <c:ext xmlns:c16="http://schemas.microsoft.com/office/drawing/2014/chart" uri="{C3380CC4-5D6E-409C-BE32-E72D297353CC}">
              <c16:uniqueId val="{00000000-D4B4-458D-B2AF-59A6C617EA38}"/>
            </c:ext>
          </c:extLst>
        </c:ser>
        <c:ser>
          <c:idx val="1"/>
          <c:order val="1"/>
          <c:tx>
            <c:strRef>
              <c:f>Sheet1!$C$1</c:f>
              <c:strCache>
                <c:ptCount val="1"/>
                <c:pt idx="0">
                  <c:v>Alert level (70)</c:v>
                </c:pt>
              </c:strCache>
            </c:strRef>
          </c:tx>
          <c:spPr>
            <a:ln w="31750">
              <a:solidFill>
                <a:srgbClr val="C9962B"/>
              </a:solidFill>
            </a:ln>
          </c:spPr>
          <c:cat>
            <c:strRef>
              <c:f>Sheet1!$A$2:$A$7</c:f>
              <c:strCache>
                <c:ptCount val="6"/>
                <c:pt idx="0">
                  <c:v>Line 1</c:v>
                </c:pt>
                <c:pt idx="1">
                  <c:v>Line 2</c:v>
                </c:pt>
                <c:pt idx="2">
                  <c:v>Line 3</c:v>
                </c:pt>
                <c:pt idx="3">
                  <c:v>Line 4</c:v>
                </c:pt>
                <c:pt idx="4">
                  <c:v>Line 5</c:v>
                </c:pt>
                <c:pt idx="5">
                  <c:v>Line 6</c:v>
                </c:pt>
              </c:strCache>
            </c:strRef>
          </c:cat>
          <c:val>
            <c:numRef>
              <c:f>Sheet1!$C$2:$C$7</c:f>
              <c:numCache>
                <c:formatCode>General</c:formatCode>
                <c:ptCount val="6"/>
                <c:pt idx="0">
                  <c:v>70</c:v>
                </c:pt>
                <c:pt idx="1">
                  <c:v>70</c:v>
                </c:pt>
                <c:pt idx="2">
                  <c:v>70</c:v>
                </c:pt>
                <c:pt idx="3">
                  <c:v>70</c:v>
                </c:pt>
                <c:pt idx="4">
                  <c:v>70</c:v>
                </c:pt>
                <c:pt idx="5">
                  <c:v>70</c:v>
                </c:pt>
              </c:numCache>
            </c:numRef>
          </c:val>
          <c:smooth val="0"/>
          <c:extLst>
            <c:ext xmlns:c16="http://schemas.microsoft.com/office/drawing/2014/chart" uri="{C3380CC4-5D6E-409C-BE32-E72D297353CC}">
              <c16:uniqueId val="{00000001-D4B4-458D-B2AF-59A6C617EA38}"/>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txPr>
          <a:bodyPr/>
          <a:lstStyle/>
          <a:p>
            <a:pPr>
              <a:defRPr sz="1000">
                <a:solidFill>
                  <a:srgbClr val="1E1612"/>
                </a:solidFill>
              </a:defRPr>
            </a:pPr>
            <a:endParaRPr lang="en-US"/>
          </a:p>
        </c:txPr>
        <c:crossAx val="2140495176"/>
        <c:crosses val="autoZero"/>
        <c:auto val="1"/>
        <c:lblAlgn val="ctr"/>
        <c:lblOffset val="100"/>
        <c:noMultiLvlLbl val="0"/>
      </c:catAx>
      <c:valAx>
        <c:axId val="2140495176"/>
        <c:scaling>
          <c:orientation val="minMax"/>
          <c:max val="100"/>
          <c:min val="0"/>
        </c:scaling>
        <c:delete val="0"/>
        <c:axPos val="l"/>
        <c:majorGridlines>
          <c:spPr>
            <a:ln>
              <a:solidFill>
                <a:srgbClr val="E5D3BE"/>
              </a:solidFill>
            </a:ln>
          </c:spPr>
        </c:majorGridlines>
        <c:numFmt formatCode="General" sourceLinked="1"/>
        <c:majorTickMark val="out"/>
        <c:minorTickMark val="none"/>
        <c:tickLblPos val="nextTo"/>
        <c:spPr>
          <a:ln>
            <a:noFill/>
          </a:ln>
        </c:spPr>
        <c:txPr>
          <a:bodyPr/>
          <a:lstStyle/>
          <a:p>
            <a:pPr>
              <a:defRPr sz="1000">
                <a:solidFill>
                  <a:srgbClr val="1E1612"/>
                </a:solidFill>
              </a:defRPr>
            </a:pPr>
            <a:endParaRPr lang="en-US"/>
          </a:p>
        </c:txPr>
        <c:crossAx val="2118791784"/>
        <c:crosses val="autoZero"/>
        <c:crossBetween val="between"/>
      </c:valAx>
    </c:plotArea>
    <c:legend>
      <c:legendPos val="b"/>
      <c:overlay val="0"/>
      <c:txPr>
        <a:bodyPr/>
        <a:lstStyle/>
        <a:p>
          <a:pPr>
            <a:defRPr sz="1100">
              <a:solidFill>
                <a:srgbClr val="1E1612"/>
              </a:solidFill>
              <a:latin typeface="Calibri"/>
            </a:defRPr>
          </a:pPr>
          <a:endParaRPr lang="en-US"/>
        </a:p>
      </c:txPr>
    </c:legend>
    <c:plotVisOnly val="1"/>
    <c:dispBlanksAs val="gap"/>
    <c:showDLblsOverMax val="0"/>
  </c:chart>
  <c:spPr>
    <a:noFill/>
    <a:ln>
      <a:noFill/>
    </a:ln>
  </c:spPr>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5791200"/>
            <a:ext cx="5486400" cy="54864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
        <p:cNvGrpSpPr/>
        <p:nvPr/>
      </p:nvGrpSpPr>
      <p:grpSpPr>
        <a:xfrm>
          <a:off x="0" y="0"/>
          <a:ext cx="0" cy="0"/>
          <a:chOff x="0" y="0"/>
          <a:chExt cx="0" cy="0"/>
        </a:xfrm>
      </p:grpSpPr>
      <p:sp>
        <p:nvSpPr>
          <p:cNvPr id="19" name="Google Shape;19;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 name="Google Shape;20;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Open with one line: many Indian families have had a call from a fake police officer or bank. Nazar is built for that call.</a:t>
            </a:r>
          </a:p>
        </p:txBody>
      </p:sp>
      <p:sp>
        <p:nvSpPr>
          <p:cNvPr id="21" name="Google Shape;21;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 name="Google Shape;39;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Edit names and roles to match the real team. Roles shown are a suggested split for this project.</a:t>
            </a:r>
          </a:p>
        </p:txBody>
      </p:sp>
      <p:sp>
        <p:nvSpPr>
          <p:cNvPr id="40" name="Google Shape;40;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 name="Google Shape;48;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References</a:t>
            </a:r>
          </a:p>
          <a:p>
            <a:r>
              <a:t>[1] Scroll.in, 'Over 38 lakh cyber fraud complaints in India since 2021: Centre' - https://scroll.in/latest/1080247/scroll_in</a:t>
            </a:r>
          </a:p>
          <a:p>
            <a:r>
              <a:t>[2] Inc42, 'Indians Lost INR 1,935 Cr To Digital Arrest Scams In 2024: Govt' - https://inc42.com/?p=504907</a:t>
            </a:r>
          </a:p>
          <a:p>
            <a:r>
              <a:t>[3] Moneylife, 'Fraud Alert: India Is Losing over Rs 22,000 Crore a Year in Cyber Scams' - https://moneylife.in/article/fraud-alert-india-is-losing-over-22000-crore-a-year-in-cyber-scams-and-the-worst-is-yet-to-come/80612.html</a:t>
            </a:r>
          </a:p>
          <a:p>
            <a:r>
              <a:t>Re-check for a newer government release before submitting.</a:t>
            </a:r>
          </a:p>
        </p:txBody>
      </p:sp>
      <p:sp>
        <p:nvSpPr>
          <p:cNvPr id="49" name="Google Shape;49;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3</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 name="Google Shape;57;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References</a:t>
            </a:r>
          </a:p>
          <a:p>
            <a:r>
              <a:t>[4] PTI via The Tribune, 'CBI, ED, police don't arrest people through video calls: I4C' (Oct 2024) - https://www.tribuneindia.com/news/india/cbi-ed-police-dont-arrest-people-through-video-calls-indian-cyber-crime-coordination-centre/amp</a:t>
            </a:r>
          </a:p>
          <a:p>
            <a:r>
              <a:t>[5] Gujarat Cyber Crime, Digital Arrest awareness material - https://gujaratcybercrime.org/Digital_Arrest_Awareness_Watermarked.pdf</a:t>
            </a:r>
          </a:p>
          <a:p>
            <a:r>
              <a:t>[6] CyberSecure India, 'Digital Arrest: A Global Trend and Its Solutions for Indian Residents' - https://cybersecureindia.in/digital-arrest-a-global-trend-and-its-solutions-for-indian-residents/</a:t>
            </a:r>
          </a:p>
          <a:p>
            <a:r>
              <a:t>The five-step pattern is synthesised from these advisories. That each step is detectable from speech is our hypothesis.</a:t>
            </a:r>
          </a:p>
        </p:txBody>
      </p:sp>
      <p:sp>
        <p:nvSpPr>
          <p:cNvPr id="58" name="Google Shape;58;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4</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6" name="Google Shape;66;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Mention that 70 is a starting alert threshold that we tune on test calls. The business model is a plan, not a validated claim.</a:t>
            </a:r>
          </a:p>
        </p:txBody>
      </p:sp>
      <p:sp>
        <p:nvSpPr>
          <p:cNvPr id="67" name="Google Shape;67;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5</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5" name="Google Shape;75;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References</a:t>
            </a:r>
          </a:p>
          <a:p>
            <a:r>
              <a:t>[9] Khanuja et al., 'MuRIL: Multilingual Representations for Indian Languages' (2021) - https://huggingface.co/google/muril-base-cased</a:t>
            </a:r>
          </a:p>
          <a:p>
            <a:r>
              <a:t>The chart is illustrative. Replace it with a real test run in the final.</a:t>
            </a:r>
          </a:p>
        </p:txBody>
      </p:sp>
      <p:sp>
        <p:nvSpPr>
          <p:cNvPr id="76" name="Google Shape;76;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6</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4" name="Google Shape;84;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References</a:t>
            </a:r>
          </a:p>
          <a:p>
            <a:r>
              <a:t>[7] OpenAI Whisper - https://github.com/openai/whisper (model card: https://huggingface.co/openai/whisper-small)</a:t>
            </a:r>
          </a:p>
          <a:p>
            <a:r>
              <a:t>Walk through the flowchart left to right, then explain the No loop.</a:t>
            </a:r>
          </a:p>
        </p:txBody>
      </p:sp>
      <p:sp>
        <p:nvSpPr>
          <p:cNvPr id="85" name="Google Shape;85;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7</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3" name="Google Shape;93;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References</a:t>
            </a:r>
          </a:p>
          <a:p>
            <a:r>
              <a:t>[7] https://github.com/openai/whisper</a:t>
            </a:r>
          </a:p>
          <a:p>
            <a:r>
              <a:rPr lang="en-US"/>
              <a:t>[8] Alpha Cephei, Vosk model catalogue (Hindi models with reported word error rates) - https://alphacephei.com/vosk/models. Vosk is an alternative under evaluation, not part of the prototype.</a:t>
            </a:r>
            <a:endParaRPr/>
          </a:p>
          <a:p>
            <a:r>
              <a:t>[9] https://huggingface.co/google/muril-base-cased</a:t>
            </a:r>
          </a:p>
          <a:p>
            <a:r>
              <a:t>[12] FastAPI WebSockets - https://fastapi.tiangolo.com/advanced/websockets/</a:t>
            </a:r>
          </a:p>
          <a:p>
            <a:r>
              <a:t>[13] Telegram Bot API - https://core.telegram.org/bots/api</a:t>
            </a:r>
          </a:p>
          <a:p>
            <a:r>
              <a:t>Privacy answer for judges: on-device, nothing stored, consent first.</a:t>
            </a:r>
          </a:p>
        </p:txBody>
      </p:sp>
      <p:sp>
        <p:nvSpPr>
          <p:cNvPr id="94" name="Google Shape;94;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8</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2" name="Google Shape;102;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References</a:t>
            </a:r>
          </a:p>
          <a:p>
            <a:r>
              <a:t>[10] Engadget, 'Google is banning third-party call recording apps from the Play Store' (2022) - https://www.engadget.com/google-is-banning-third-party-call-recording-apps-from-the-play-store-093201443.html</a:t>
            </a:r>
          </a:p>
          <a:p>
            <a:r>
              <a:t>[11] The Register (April 2022) - https://www.theregister.com/2022/04/22/google_banning_thirdparty_callrecording_apps/</a:t>
            </a:r>
          </a:p>
          <a:p>
            <a:r>
              <a:t>State the Android limit yourself before a judge asks.</a:t>
            </a:r>
          </a:p>
        </p:txBody>
      </p:sp>
      <p:sp>
        <p:nvSpPr>
          <p:cNvPr id="103" name="Google Shape;103;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9</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2" name="Google Shape;102;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rPr lang="en-US"/>
              <a:t>Open https://nazar-codevators.vercel.app and play sample call S1 (or speak a scam line into the microphone). Point out the score climbing step by step, the highlighted words, the red warning at line 3, and the family alert. Then play genuine call G2 (real bank fraud team) to show it stays safe. Finish with the test bench: 10 of 10 scams caught before the money ask, 0 of 10 false alarms. Be clear these are our own scripted calls.</a:t>
            </a:r>
            <a:endParaRPr/>
          </a:p>
        </p:txBody>
      </p:sp>
      <p:sp>
        <p:nvSpPr>
          <p:cNvPr id="103" name="Google Shape;103;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10</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2" name="Google Shape;102;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rPr lang="en-US"/>
              <a:t>Open https://nazar-codevators.vercel.app and play sample call S1 (or speak a scam line into the microphone). Point out the score climbing step by step, the highlighted words, the red warning at line 3, and the family alert. Then play genuine call G2 (real bank fraud team) to show it stays safe. Finish with the test bench: 10 of 10 scams caught before the money ask, 0 of 10 false alarms. Be clear these are our own scripted calls.</a:t>
            </a:r>
            <a:endParaRPr/>
          </a:p>
        </p:txBody>
      </p:sp>
      <p:sp>
        <p:nvSpPr>
          <p:cNvPr id="103" name="Google Shape;103;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11</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2" name="Google Shape;102;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rPr lang="en-US"/>
              <a:t>Open https://nazar-codevators.vercel.app and play sample call S1 (or speak a scam line into the microphone). Point out the score climbing step by step, the highlighted words, the red warning at line 3, and the family alert. Then play genuine call G2 (real bank fraud team) to show it stays safe. Finish with the test bench: 10 of 10 scams caught before the money ask, 0 of 10 false alarms. Be clear these are our own scripted calls.</a:t>
            </a:r>
            <a:endParaRPr/>
          </a:p>
        </p:txBody>
      </p:sp>
      <p:sp>
        <p:nvSpPr>
          <p:cNvPr id="103" name="Google Shape;103;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12</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2" name="Google Shape;102;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rPr lang="en-US"/>
              <a:t>Open https://nazar-codevators.vercel.app and play sample call S1 (or speak a scam line into the microphone). Point out the score climbing step by step, the highlighted words, the red warning at line 3, and the family alert. Then play genuine call G2 (real bank fraud team) to show it stays safe. Finish with the test bench: 10 of 10 scams caught before the money ask, 0 of 10 false alarms. Be clear these are our own scripted calls.</a:t>
            </a:r>
            <a:endParaRPr/>
          </a:p>
        </p:txBody>
      </p:sp>
      <p:sp>
        <p:nvSpPr>
          <p:cNvPr id="103" name="Google Shape;103;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13</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2" name="Google Shape;102;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rPr lang="en-US"/>
              <a:t>Open https://nazar-codevators.vercel.app and play sample call S1 (or speak a scam line into the microphone). Point out the score climbing step by step, the highlighted words, the red warning at line 3, and the family alert. Then play genuine call G2 (real bank fraud team) to show it stays safe. Finish with the test bench: 10 of 10 scams caught before the money ask, 0 of 10 false alarms. Be clear these are our own scripted calls.</a:t>
            </a:r>
            <a:endParaRPr/>
          </a:p>
        </p:txBody>
      </p:sp>
      <p:sp>
        <p:nvSpPr>
          <p:cNvPr id="103" name="Google Shape;103;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14</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1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1" name="Google Shape;111;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Be clear that the business model and timeline are plans, to be tested in pilots. References: [4] PTI/Tribune on the I4C advisory (helpline 1930); [9] MuRIL; [10][11] Android call-recording limits - see slides 4, 6 and 9 notes for URLs.</a:t>
            </a:r>
          </a:p>
        </p:txBody>
      </p:sp>
      <p:sp>
        <p:nvSpPr>
          <p:cNvPr id="112" name="Google Shape;112;p1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15</a:t>
            </a:fld>
            <a:endParaRPr sz="18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35000" y="914400"/>
            <a:ext cx="8128000" cy="4572000"/>
          </a:xfrm>
        </p:spPr>
      </p:sp>
      <p:sp>
        <p:nvSpPr>
          <p:cNvPr id="3" name="Notes Placeholder 2"/>
          <p:cNvSpPr>
            <a:spLocks noGrp="1"/>
          </p:cNvSpPr>
          <p:nvPr>
            <p:ph type="body" idx="1"/>
          </p:nvPr>
        </p:nvSpPr>
        <p:spPr/>
        <p:txBody>
          <a:bodyPr/>
          <a:lstStyle/>
          <a:p>
            <a:r>
              <a:t>Full reference list. Open links once to confirm they load. Where possible, also cite the original Lok Sabha or Rajya Sabha reply (March 2025) for the figures in [1] to [3].</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0" name="Google Shape;120;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21" name="Google Shape;121;p1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17</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Y_TITLE">
  <p:cSld name="CY_TITLE">
    <p:bg>
      <p:bgPr>
        <a:blipFill>
          <a:blip r:embed="rId2">
            <a:alphaModFix/>
          </a:blip>
          <a:stretch>
            <a:fillRect/>
          </a:stretch>
        </a:blipFill>
        <a:effectLst/>
      </p:bgPr>
    </p:bg>
    <p:spTree>
      <p:nvGrpSpPr>
        <p:cNvPr id="1" name="Shape 7"/>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Y_CONTENT">
  <p:cSld name="CY_CONTENT">
    <p:bg>
      <p:bgPr>
        <a:blipFill>
          <a:blip r:embed="rId2">
            <a:alphaModFix/>
          </a:blip>
          <a:stretch>
            <a:fillRect/>
          </a:stretch>
        </a:blipFill>
        <a:effectLst/>
      </p:bgPr>
    </p:bg>
    <p:spTree>
      <p:nvGrpSpPr>
        <p:cNvPr id="1" name="Shape 8"/>
        <p:cNvGrpSpPr/>
        <p:nvPr/>
      </p:nvGrpSpPr>
      <p:grpSpPr>
        <a:xfrm>
          <a:off x="0" y="0"/>
          <a:ext cx="0" cy="0"/>
          <a:chOff x="0" y="0"/>
          <a:chExt cx="0" cy="0"/>
        </a:xfrm>
      </p:grpSpPr>
      <p:pic>
        <p:nvPicPr>
          <p:cNvPr id="9" name="Google Shape;9;p3" descr="/home/claude/cy/warrior_wm.png"/>
          <p:cNvPicPr preferRelativeResize="0"/>
          <p:nvPr/>
        </p:nvPicPr>
        <p:blipFill rotWithShape="1">
          <a:blip r:embed="rId3">
            <a:alphaModFix/>
          </a:blip>
          <a:srcRect/>
          <a:stretch/>
        </p:blipFill>
        <p:spPr>
          <a:xfrm>
            <a:off x="6406588" y="2468880"/>
            <a:ext cx="6056684" cy="4389120"/>
          </a:xfrm>
          <a:prstGeom prst="rect">
            <a:avLst/>
          </a:prstGeom>
          <a:noFill/>
          <a:ln>
            <a:noFill/>
          </a:ln>
        </p:spPr>
      </p:pic>
      <p:sp>
        <p:nvSpPr>
          <p:cNvPr id="10" name="Google Shape;10;p3"/>
          <p:cNvSpPr txBox="1">
            <a:spLocks noGrp="1"/>
          </p:cNvSpPr>
          <p:nvPr>
            <p:ph type="body" idx="1"/>
          </p:nvPr>
        </p:nvSpPr>
        <p:spPr>
          <a:xfrm>
            <a:off x="548640" y="384048"/>
            <a:ext cx="8229600" cy="292608"/>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40"/>
              </a:spcBef>
              <a:spcAft>
                <a:spcPts val="0"/>
              </a:spcAft>
              <a:buClr>
                <a:schemeClr val="accent1"/>
              </a:buClr>
              <a:buSzPts val="1200"/>
              <a:buFont typeface="Arial"/>
              <a:buNone/>
              <a:defRPr sz="1200" b="1" i="0" u="none" strike="noStrike" cap="none" spc="300">
                <a:solidFill>
                  <a:schemeClr val="accent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1" name="Google Shape;11;p3"/>
          <p:cNvSpPr txBox="1">
            <a:spLocks noGrp="1"/>
          </p:cNvSpPr>
          <p:nvPr>
            <p:ph type="title"/>
          </p:nvPr>
        </p:nvSpPr>
        <p:spPr>
          <a:xfrm>
            <a:off x="548640" y="676656"/>
            <a:ext cx="9509760" cy="6858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600"/>
              <a:buFont typeface="Cambria"/>
              <a:buNone/>
              <a:defRPr sz="3600" b="1" i="0" u="none" strike="noStrike" cap="none">
                <a:solidFill>
                  <a:schemeClr val="dk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3"/>
          <p:cNvSpPr txBox="1">
            <a:spLocks noGrp="1"/>
          </p:cNvSpPr>
          <p:nvPr>
            <p:ph type="body" idx="2"/>
          </p:nvPr>
        </p:nvSpPr>
        <p:spPr>
          <a:xfrm>
            <a:off x="548640" y="1783080"/>
            <a:ext cx="6949440" cy="429768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40"/>
              </a:spcBef>
              <a:spcAft>
                <a:spcPts val="0"/>
              </a:spcAft>
              <a:buClr>
                <a:schemeClr val="dk2"/>
              </a:buClr>
              <a:buSzPts val="2200"/>
              <a:buFont typeface="Arial"/>
              <a:buNone/>
              <a:defRPr sz="2200" b="0" i="0" u="none" strike="noStrike" cap="none">
                <a:solidFill>
                  <a:schemeClr val="dk2"/>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 name="Google Shape;13;p3"/>
          <p:cNvSpPr/>
          <p:nvPr/>
        </p:nvSpPr>
        <p:spPr>
          <a:xfrm>
            <a:off x="548640" y="6355080"/>
            <a:ext cx="102412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4"/>
              </a:buClr>
              <a:buSzPts val="1000"/>
              <a:buFont typeface="Calibri"/>
              <a:buNone/>
            </a:pPr>
            <a:r>
              <a:rPr lang="en-US" sz="1000" spc="200">
                <a:solidFill>
                  <a:schemeClr val="accent4"/>
                </a:solidFill>
                <a:latin typeface="Calibri"/>
                <a:ea typeface="Calibri"/>
                <a:cs typeface="Calibri"/>
                <a:sym typeface="Calibri"/>
              </a:rPr>
              <a:t>CODE YUDH HACKATHON  ·  DEPARTMENT OF COMPUTER SCIENCE &amp; ENGINEERING  ·  CHANDIGARH UNIVERSITY</a:t>
            </a:r>
            <a:endParaRPr sz="1000">
              <a:solidFill>
                <a:schemeClr val="dk1"/>
              </a:solidFill>
              <a:latin typeface="Calibri"/>
              <a:ea typeface="Calibri"/>
              <a:cs typeface="Calibri"/>
              <a:sym typeface="Calibri"/>
            </a:endParaRPr>
          </a:p>
        </p:txBody>
      </p:sp>
      <p:pic>
        <p:nvPicPr>
          <p:cNvPr id="14" name="Google Shape;14;p3" descr="/home/claude/cy/logo_t.png"/>
          <p:cNvPicPr preferRelativeResize="0"/>
          <p:nvPr/>
        </p:nvPicPr>
        <p:blipFill rotWithShape="1">
          <a:blip r:embed="rId4">
            <a:alphaModFix/>
          </a:blip>
          <a:srcRect/>
          <a:stretch/>
        </p:blipFill>
        <p:spPr>
          <a:xfrm>
            <a:off x="10680192" y="274320"/>
            <a:ext cx="1051560" cy="740664"/>
          </a:xfrm>
          <a:prstGeom prst="rect">
            <a:avLst/>
          </a:prstGeom>
          <a:noFill/>
          <a:ln>
            <a:noFill/>
          </a:ln>
        </p:spPr>
      </p:pic>
      <p:sp>
        <p:nvSpPr>
          <p:cNvPr id="15" name="Google Shape;15;p3"/>
          <p:cNvSpPr txBox="1">
            <a:spLocks noGrp="1"/>
          </p:cNvSpPr>
          <p:nvPr>
            <p:ph type="sldNum" idx="12"/>
          </p:nvPr>
        </p:nvSpPr>
        <p:spPr>
          <a:xfrm>
            <a:off x="11183112" y="6355080"/>
            <a:ext cx="457200" cy="274320"/>
          </a:xfrm>
          <a:prstGeom prst="rect">
            <a:avLst/>
          </a:prstGeom>
          <a:noFill/>
          <a:ln>
            <a:noFill/>
          </a:ln>
        </p:spPr>
        <p:txBody>
          <a:bodyPr spcFirstLastPara="1" wrap="square" lIns="0" tIns="0" rIns="0" bIns="0" anchor="t" anchorCtr="0">
            <a:noAutofit/>
          </a:bodyPr>
          <a:lstStyle>
            <a:lvl1pPr marL="0" marR="0" lvl="0" indent="0" algn="r">
              <a:spcBef>
                <a:spcPts val="0"/>
              </a:spcBef>
              <a:buNone/>
              <a:defRPr sz="1000" b="0">
                <a:solidFill>
                  <a:schemeClr val="accent4"/>
                </a:solidFill>
                <a:latin typeface="Calibri"/>
                <a:ea typeface="Calibri"/>
                <a:cs typeface="Calibri"/>
                <a:sym typeface="Calibri"/>
              </a:defRPr>
            </a:lvl1pPr>
            <a:lvl2pPr marL="0" marR="0" lvl="1" indent="0" algn="r">
              <a:spcBef>
                <a:spcPts val="0"/>
              </a:spcBef>
              <a:buNone/>
              <a:defRPr sz="1000" b="0">
                <a:solidFill>
                  <a:schemeClr val="accent4"/>
                </a:solidFill>
                <a:latin typeface="Calibri"/>
                <a:ea typeface="Calibri"/>
                <a:cs typeface="Calibri"/>
                <a:sym typeface="Calibri"/>
              </a:defRPr>
            </a:lvl2pPr>
            <a:lvl3pPr marL="0" marR="0" lvl="2" indent="0" algn="r">
              <a:spcBef>
                <a:spcPts val="0"/>
              </a:spcBef>
              <a:buNone/>
              <a:defRPr sz="1000" b="0">
                <a:solidFill>
                  <a:schemeClr val="accent4"/>
                </a:solidFill>
                <a:latin typeface="Calibri"/>
                <a:ea typeface="Calibri"/>
                <a:cs typeface="Calibri"/>
                <a:sym typeface="Calibri"/>
              </a:defRPr>
            </a:lvl3pPr>
            <a:lvl4pPr marL="0" marR="0" lvl="3" indent="0" algn="r">
              <a:spcBef>
                <a:spcPts val="0"/>
              </a:spcBef>
              <a:buNone/>
              <a:defRPr sz="1000" b="0">
                <a:solidFill>
                  <a:schemeClr val="accent4"/>
                </a:solidFill>
                <a:latin typeface="Calibri"/>
                <a:ea typeface="Calibri"/>
                <a:cs typeface="Calibri"/>
                <a:sym typeface="Calibri"/>
              </a:defRPr>
            </a:lvl4pPr>
            <a:lvl5pPr marL="0" marR="0" lvl="4" indent="0" algn="r">
              <a:spcBef>
                <a:spcPts val="0"/>
              </a:spcBef>
              <a:buNone/>
              <a:defRPr sz="1000" b="0">
                <a:solidFill>
                  <a:schemeClr val="accent4"/>
                </a:solidFill>
                <a:latin typeface="Calibri"/>
                <a:ea typeface="Calibri"/>
                <a:cs typeface="Calibri"/>
                <a:sym typeface="Calibri"/>
              </a:defRPr>
            </a:lvl5pPr>
            <a:lvl6pPr marL="0" marR="0" lvl="5" indent="0" algn="r">
              <a:spcBef>
                <a:spcPts val="0"/>
              </a:spcBef>
              <a:buNone/>
              <a:defRPr sz="1000" b="0">
                <a:solidFill>
                  <a:schemeClr val="accent4"/>
                </a:solidFill>
                <a:latin typeface="Calibri"/>
                <a:ea typeface="Calibri"/>
                <a:cs typeface="Calibri"/>
                <a:sym typeface="Calibri"/>
              </a:defRPr>
            </a:lvl6pPr>
            <a:lvl7pPr marL="0" marR="0" lvl="6" indent="0" algn="r">
              <a:spcBef>
                <a:spcPts val="0"/>
              </a:spcBef>
              <a:buNone/>
              <a:defRPr sz="1000" b="0">
                <a:solidFill>
                  <a:schemeClr val="accent4"/>
                </a:solidFill>
                <a:latin typeface="Calibri"/>
                <a:ea typeface="Calibri"/>
                <a:cs typeface="Calibri"/>
                <a:sym typeface="Calibri"/>
              </a:defRPr>
            </a:lvl7pPr>
            <a:lvl8pPr marL="0" marR="0" lvl="7" indent="0" algn="r">
              <a:spcBef>
                <a:spcPts val="0"/>
              </a:spcBef>
              <a:buNone/>
              <a:defRPr sz="1000" b="0">
                <a:solidFill>
                  <a:schemeClr val="accent4"/>
                </a:solidFill>
                <a:latin typeface="Calibri"/>
                <a:ea typeface="Calibri"/>
                <a:cs typeface="Calibri"/>
                <a:sym typeface="Calibri"/>
              </a:defRPr>
            </a:lvl8pPr>
            <a:lvl9pPr marL="0" marR="0" lvl="8" indent="0" algn="r">
              <a:spcBef>
                <a:spcPts val="0"/>
              </a:spcBef>
              <a:buNone/>
              <a:defRPr sz="1000" b="0">
                <a:solidFill>
                  <a:schemeClr val="accent4"/>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Y_CLOSING">
  <p:cSld name="CY_CLOSING">
    <p:bg>
      <p:bgPr>
        <a:blipFill>
          <a:blip r:embed="rId2">
            <a:alphaModFix/>
          </a:blip>
          <a:stretch>
            <a:fillRect/>
          </a:stretch>
        </a:blipFill>
        <a:effectLst/>
      </p:bgPr>
    </p:bg>
    <p:spTree>
      <p:nvGrpSpPr>
        <p:cNvPr id="1" name="Shape 1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11183112" y="6355080"/>
            <a:ext cx="457200" cy="274320"/>
          </a:xfrm>
          <a:prstGeom prst="rect">
            <a:avLst/>
          </a:prstGeom>
          <a:noFill/>
          <a:ln>
            <a:noFill/>
          </a:ln>
        </p:spPr>
        <p:txBody>
          <a:bodyPr spcFirstLastPara="1" wrap="square" lIns="0" tIns="0" rIns="0" bIns="0" anchor="t" anchorCtr="0">
            <a:noAutofit/>
          </a:bodyPr>
          <a:lstStyle>
            <a:lvl1pPr marL="0" marR="0" lvl="0" indent="0" algn="r" rtl="0">
              <a:spcBef>
                <a:spcPts val="0"/>
              </a:spcBef>
              <a:buNone/>
              <a:defRPr sz="1000" b="0" i="0" u="none" strike="noStrike" cap="none">
                <a:solidFill>
                  <a:schemeClr val="accent4"/>
                </a:solidFill>
                <a:latin typeface="Calibri"/>
                <a:ea typeface="Calibri"/>
                <a:cs typeface="Calibri"/>
                <a:sym typeface="Calibri"/>
              </a:defRPr>
            </a:lvl1pPr>
            <a:lvl2pPr marL="0" marR="0" lvl="1" indent="0" algn="r" rtl="0">
              <a:spcBef>
                <a:spcPts val="0"/>
              </a:spcBef>
              <a:buNone/>
              <a:defRPr sz="1000" b="0" i="0" u="none" strike="noStrike" cap="none">
                <a:solidFill>
                  <a:schemeClr val="accent4"/>
                </a:solidFill>
                <a:latin typeface="Calibri"/>
                <a:ea typeface="Calibri"/>
                <a:cs typeface="Calibri"/>
                <a:sym typeface="Calibri"/>
              </a:defRPr>
            </a:lvl2pPr>
            <a:lvl3pPr marL="0" marR="0" lvl="2" indent="0" algn="r" rtl="0">
              <a:spcBef>
                <a:spcPts val="0"/>
              </a:spcBef>
              <a:buNone/>
              <a:defRPr sz="1000" b="0" i="0" u="none" strike="noStrike" cap="none">
                <a:solidFill>
                  <a:schemeClr val="accent4"/>
                </a:solidFill>
                <a:latin typeface="Calibri"/>
                <a:ea typeface="Calibri"/>
                <a:cs typeface="Calibri"/>
                <a:sym typeface="Calibri"/>
              </a:defRPr>
            </a:lvl3pPr>
            <a:lvl4pPr marL="0" marR="0" lvl="3" indent="0" algn="r" rtl="0">
              <a:spcBef>
                <a:spcPts val="0"/>
              </a:spcBef>
              <a:buNone/>
              <a:defRPr sz="1000" b="0" i="0" u="none" strike="noStrike" cap="none">
                <a:solidFill>
                  <a:schemeClr val="accent4"/>
                </a:solidFill>
                <a:latin typeface="Calibri"/>
                <a:ea typeface="Calibri"/>
                <a:cs typeface="Calibri"/>
                <a:sym typeface="Calibri"/>
              </a:defRPr>
            </a:lvl4pPr>
            <a:lvl5pPr marL="0" marR="0" lvl="4" indent="0" algn="r" rtl="0">
              <a:spcBef>
                <a:spcPts val="0"/>
              </a:spcBef>
              <a:buNone/>
              <a:defRPr sz="1000" b="0" i="0" u="none" strike="noStrike" cap="none">
                <a:solidFill>
                  <a:schemeClr val="accent4"/>
                </a:solidFill>
                <a:latin typeface="Calibri"/>
                <a:ea typeface="Calibri"/>
                <a:cs typeface="Calibri"/>
                <a:sym typeface="Calibri"/>
              </a:defRPr>
            </a:lvl5pPr>
            <a:lvl6pPr marL="0" marR="0" lvl="5" indent="0" algn="r" rtl="0">
              <a:spcBef>
                <a:spcPts val="0"/>
              </a:spcBef>
              <a:buNone/>
              <a:defRPr sz="1000" b="0" i="0" u="none" strike="noStrike" cap="none">
                <a:solidFill>
                  <a:schemeClr val="accent4"/>
                </a:solidFill>
                <a:latin typeface="Calibri"/>
                <a:ea typeface="Calibri"/>
                <a:cs typeface="Calibri"/>
                <a:sym typeface="Calibri"/>
              </a:defRPr>
            </a:lvl6pPr>
            <a:lvl7pPr marL="0" marR="0" lvl="6" indent="0" algn="r" rtl="0">
              <a:spcBef>
                <a:spcPts val="0"/>
              </a:spcBef>
              <a:buNone/>
              <a:defRPr sz="1000" b="0" i="0" u="none" strike="noStrike" cap="none">
                <a:solidFill>
                  <a:schemeClr val="accent4"/>
                </a:solidFill>
                <a:latin typeface="Calibri"/>
                <a:ea typeface="Calibri"/>
                <a:cs typeface="Calibri"/>
                <a:sym typeface="Calibri"/>
              </a:defRPr>
            </a:lvl7pPr>
            <a:lvl8pPr marL="0" marR="0" lvl="7" indent="0" algn="r" rtl="0">
              <a:spcBef>
                <a:spcPts val="0"/>
              </a:spcBef>
              <a:buNone/>
              <a:defRPr sz="1000" b="0" i="0" u="none" strike="noStrike" cap="none">
                <a:solidFill>
                  <a:schemeClr val="accent4"/>
                </a:solidFill>
                <a:latin typeface="Calibri"/>
                <a:ea typeface="Calibri"/>
                <a:cs typeface="Calibri"/>
                <a:sym typeface="Calibri"/>
              </a:defRPr>
            </a:lvl8pPr>
            <a:lvl9pPr marL="0" marR="0" lvl="8" indent="0" algn="r" rtl="0">
              <a:spcBef>
                <a:spcPts val="0"/>
              </a:spcBef>
              <a:buNone/>
              <a:defRPr sz="1000" b="0" i="0" u="none" strike="noStrike" cap="none">
                <a:solidFill>
                  <a:schemeClr val="accent4"/>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nazar-codevators.vercel.app/" TargetMode="External"/><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nazar-codevators.vercel.app/"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pic>
        <p:nvPicPr>
          <p:cNvPr id="23" name="Google Shape;23;p6" descr="/home/claude/cy/warrior.png"/>
          <p:cNvPicPr preferRelativeResize="0"/>
          <p:nvPr/>
        </p:nvPicPr>
        <p:blipFill rotWithShape="1">
          <a:blip r:embed="rId3">
            <a:alphaModFix/>
          </a:blip>
          <a:srcRect/>
          <a:stretch/>
        </p:blipFill>
        <p:spPr>
          <a:xfrm>
            <a:off x="5431881" y="1828800"/>
            <a:ext cx="6939951" cy="5029200"/>
          </a:xfrm>
          <a:prstGeom prst="rect">
            <a:avLst/>
          </a:prstGeom>
          <a:noFill/>
          <a:ln>
            <a:noFill/>
          </a:ln>
        </p:spPr>
      </p:pic>
      <p:sp>
        <p:nvSpPr>
          <p:cNvPr id="24" name="Google Shape;24;p6"/>
          <p:cNvSpPr/>
          <p:nvPr/>
        </p:nvSpPr>
        <p:spPr>
          <a:xfrm>
            <a:off x="640080" y="502920"/>
            <a:ext cx="4133088" cy="1234440"/>
          </a:xfrm>
          <a:prstGeom prst="roundRect">
            <a:avLst>
              <a:gd name="adj" fmla="val 11111"/>
            </a:avLst>
          </a:prstGeom>
          <a:solidFill>
            <a:schemeClr val="lt1"/>
          </a:solidFill>
          <a:ln>
            <a:noFill/>
          </a:ln>
          <a:effectLst>
            <a:outerShdw blurRad="152400" dist="38100" dir="5400000" algn="bl" rotWithShape="0">
              <a:srgbClr val="000000">
                <a:alpha val="45098"/>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5" name="Google Shape;25;p6" descr="/home/claude/cy/cu.png"/>
          <p:cNvPicPr preferRelativeResize="0"/>
          <p:nvPr/>
        </p:nvPicPr>
        <p:blipFill rotWithShape="1">
          <a:blip r:embed="rId4">
            <a:alphaModFix/>
          </a:blip>
          <a:srcRect/>
          <a:stretch/>
        </p:blipFill>
        <p:spPr>
          <a:xfrm>
            <a:off x="868680" y="790956"/>
            <a:ext cx="1851660" cy="658368"/>
          </a:xfrm>
          <a:prstGeom prst="rect">
            <a:avLst/>
          </a:prstGeom>
          <a:noFill/>
          <a:ln>
            <a:noFill/>
          </a:ln>
        </p:spPr>
      </p:pic>
      <p:cxnSp>
        <p:nvCxnSpPr>
          <p:cNvPr id="26" name="Google Shape;26;p6"/>
          <p:cNvCxnSpPr/>
          <p:nvPr/>
        </p:nvCxnSpPr>
        <p:spPr>
          <a:xfrm>
            <a:off x="2948940" y="731520"/>
            <a:ext cx="0" cy="777240"/>
          </a:xfrm>
          <a:prstGeom prst="straightConnector1">
            <a:avLst/>
          </a:prstGeom>
          <a:noFill/>
          <a:ln w="12700" cap="flat" cmpd="sng">
            <a:solidFill>
              <a:srgbClr val="D0C8C0"/>
            </a:solidFill>
            <a:prstDash val="solid"/>
            <a:round/>
            <a:headEnd type="none" w="sm" len="sm"/>
            <a:tailEnd type="none" w="sm" len="sm"/>
          </a:ln>
        </p:spPr>
      </p:cxnSp>
      <p:pic>
        <p:nvPicPr>
          <p:cNvPr id="27" name="Google Shape;27;p6" descr="/home/claude/cy/logo_w.png"/>
          <p:cNvPicPr preferRelativeResize="0"/>
          <p:nvPr/>
        </p:nvPicPr>
        <p:blipFill rotWithShape="1">
          <a:blip r:embed="rId5">
            <a:alphaModFix/>
          </a:blip>
          <a:srcRect/>
          <a:stretch/>
        </p:blipFill>
        <p:spPr>
          <a:xfrm>
            <a:off x="3177540" y="640080"/>
            <a:ext cx="1367028" cy="960120"/>
          </a:xfrm>
          <a:prstGeom prst="rect">
            <a:avLst/>
          </a:prstGeom>
          <a:noFill/>
          <a:ln>
            <a:noFill/>
          </a:ln>
        </p:spPr>
      </p:pic>
      <p:sp>
        <p:nvSpPr>
          <p:cNvPr id="28" name="Google Shape;28;p6"/>
          <p:cNvSpPr txBox="1"/>
          <p:nvPr/>
        </p:nvSpPr>
        <p:spPr>
          <a:xfrm>
            <a:off x="640080" y="1971040"/>
            <a:ext cx="2743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1"/>
              </a:buClr>
              <a:buSzPts val="1200"/>
              <a:buFont typeface="Calibri"/>
              <a:buNone/>
            </a:pPr>
            <a:r>
              <a:rPr lang="en-US" sz="1200" b="1" spc="300">
                <a:solidFill>
                  <a:schemeClr val="accent1"/>
                </a:solidFill>
                <a:latin typeface="Calibri"/>
                <a:ea typeface="Calibri"/>
                <a:cs typeface="Calibri"/>
                <a:sym typeface="Calibri"/>
              </a:rPr>
              <a:t>PROJECT NAME</a:t>
            </a:r>
            <a:endParaRPr sz="1200">
              <a:solidFill>
                <a:schemeClr val="dk1"/>
              </a:solidFill>
              <a:latin typeface="Calibri"/>
              <a:ea typeface="Calibri"/>
              <a:cs typeface="Calibri"/>
              <a:sym typeface="Calibri"/>
            </a:endParaRPr>
          </a:p>
        </p:txBody>
      </p:sp>
      <p:sp>
        <p:nvSpPr>
          <p:cNvPr id="29" name="Google Shape;29;p6"/>
          <p:cNvSpPr txBox="1"/>
          <p:nvPr/>
        </p:nvSpPr>
        <p:spPr>
          <a:xfrm>
            <a:off x="640080" y="2245360"/>
            <a:ext cx="438912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9D6C2"/>
              </a:buClr>
              <a:buSzPts val="3200"/>
              <a:buFont typeface="Cambria"/>
              <a:buNone/>
            </a:pPr>
            <a:r>
              <a:rPr lang="en-US" sz="3200" b="1">
                <a:solidFill>
                  <a:srgbClr val="E9D6C2"/>
                </a:solidFill>
                <a:latin typeface="Cambria"/>
                <a:ea typeface="Cambria"/>
                <a:cs typeface="Cambria"/>
                <a:sym typeface="Cambria"/>
              </a:rPr>
              <a:t>Nazar</a:t>
            </a:r>
            <a:endParaRPr sz="3200">
              <a:solidFill>
                <a:schemeClr val="dk1"/>
              </a:solidFill>
              <a:latin typeface="Calibri"/>
              <a:ea typeface="Calibri"/>
              <a:cs typeface="Calibri"/>
              <a:sym typeface="Calibri"/>
            </a:endParaRPr>
          </a:p>
        </p:txBody>
      </p:sp>
      <p:sp>
        <p:nvSpPr>
          <p:cNvPr id="30" name="Google Shape;30;p6"/>
          <p:cNvSpPr txBox="1"/>
          <p:nvPr/>
        </p:nvSpPr>
        <p:spPr>
          <a:xfrm>
            <a:off x="640080" y="2885440"/>
            <a:ext cx="2743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1"/>
              </a:buClr>
              <a:buSzPts val="1200"/>
              <a:buFont typeface="Calibri"/>
              <a:buNone/>
            </a:pPr>
            <a:r>
              <a:rPr lang="en-US" sz="1200" b="1" spc="300">
                <a:solidFill>
                  <a:schemeClr val="accent1"/>
                </a:solidFill>
                <a:latin typeface="Calibri"/>
                <a:ea typeface="Calibri"/>
                <a:cs typeface="Calibri"/>
                <a:sym typeface="Calibri"/>
              </a:rPr>
              <a:t>TAGLINE</a:t>
            </a:r>
            <a:endParaRPr sz="1200">
              <a:solidFill>
                <a:schemeClr val="dk1"/>
              </a:solidFill>
              <a:latin typeface="Calibri"/>
              <a:ea typeface="Calibri"/>
              <a:cs typeface="Calibri"/>
              <a:sym typeface="Calibri"/>
            </a:endParaRPr>
          </a:p>
        </p:txBody>
      </p:sp>
      <p:sp>
        <p:nvSpPr>
          <p:cNvPr id="31" name="Google Shape;31;p6"/>
          <p:cNvSpPr txBox="1"/>
          <p:nvPr/>
        </p:nvSpPr>
        <p:spPr>
          <a:xfrm>
            <a:off x="640080" y="3159760"/>
            <a:ext cx="438912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9D6C2"/>
              </a:buClr>
              <a:buSzPts val="1800"/>
              <a:buFont typeface="Calibri"/>
              <a:buNone/>
            </a:pPr>
            <a:r>
              <a:rPr lang="en-US" sz="1800">
                <a:solidFill>
                  <a:srgbClr val="E9D6C2"/>
                </a:solidFill>
                <a:latin typeface="Calibri"/>
                <a:ea typeface="Calibri"/>
                <a:cs typeface="Calibri"/>
                <a:sym typeface="Calibri"/>
              </a:rPr>
              <a:t>Stop the scam before the money moves</a:t>
            </a:r>
            <a:endParaRPr sz="1800">
              <a:solidFill>
                <a:schemeClr val="dk1"/>
              </a:solidFill>
              <a:latin typeface="Calibri"/>
              <a:ea typeface="Calibri"/>
              <a:cs typeface="Calibri"/>
              <a:sym typeface="Calibri"/>
            </a:endParaRPr>
          </a:p>
        </p:txBody>
      </p:sp>
      <p:sp>
        <p:nvSpPr>
          <p:cNvPr id="32" name="Google Shape;32;p6"/>
          <p:cNvSpPr txBox="1"/>
          <p:nvPr/>
        </p:nvSpPr>
        <p:spPr>
          <a:xfrm>
            <a:off x="640080" y="3662680"/>
            <a:ext cx="2743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1"/>
              </a:buClr>
              <a:buSzPts val="1200"/>
              <a:buFont typeface="Calibri"/>
              <a:buNone/>
            </a:pPr>
            <a:r>
              <a:rPr lang="en-US" sz="1200" b="1" spc="300">
                <a:solidFill>
                  <a:schemeClr val="accent1"/>
                </a:solidFill>
                <a:latin typeface="Calibri"/>
                <a:ea typeface="Calibri"/>
                <a:cs typeface="Calibri"/>
                <a:sym typeface="Calibri"/>
              </a:rPr>
              <a:t>TEAM NAME</a:t>
            </a:r>
            <a:endParaRPr sz="1200">
              <a:solidFill>
                <a:schemeClr val="dk1"/>
              </a:solidFill>
              <a:latin typeface="Calibri"/>
              <a:ea typeface="Calibri"/>
              <a:cs typeface="Calibri"/>
              <a:sym typeface="Calibri"/>
            </a:endParaRPr>
          </a:p>
        </p:txBody>
      </p:sp>
      <p:sp>
        <p:nvSpPr>
          <p:cNvPr id="33" name="Google Shape;33;p6"/>
          <p:cNvSpPr txBox="1"/>
          <p:nvPr/>
        </p:nvSpPr>
        <p:spPr>
          <a:xfrm>
            <a:off x="640080" y="3937000"/>
            <a:ext cx="438912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9D6C2"/>
              </a:buClr>
              <a:buSzPts val="1800"/>
              <a:buFont typeface="Calibri"/>
              <a:buNone/>
            </a:pPr>
            <a:r>
              <a:rPr lang="en-US" sz="1800">
                <a:solidFill>
                  <a:srgbClr val="E9D6C2"/>
                </a:solidFill>
                <a:latin typeface="Calibri"/>
                <a:ea typeface="Calibri"/>
                <a:cs typeface="Calibri"/>
                <a:sym typeface="Calibri"/>
              </a:rPr>
              <a:t>CodeVators</a:t>
            </a:r>
            <a:endParaRPr sz="1800">
              <a:solidFill>
                <a:schemeClr val="dk1"/>
              </a:solidFill>
              <a:latin typeface="Calibri"/>
              <a:ea typeface="Calibri"/>
              <a:cs typeface="Calibri"/>
              <a:sym typeface="Calibri"/>
            </a:endParaRPr>
          </a:p>
        </p:txBody>
      </p:sp>
      <p:sp>
        <p:nvSpPr>
          <p:cNvPr id="34" name="Google Shape;34;p6"/>
          <p:cNvSpPr txBox="1"/>
          <p:nvPr/>
        </p:nvSpPr>
        <p:spPr>
          <a:xfrm>
            <a:off x="640080" y="4439920"/>
            <a:ext cx="2743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1"/>
              </a:buClr>
              <a:buSzPts val="1200"/>
              <a:buFont typeface="Calibri"/>
              <a:buNone/>
            </a:pPr>
            <a:r>
              <a:rPr lang="en-US" sz="1200" b="1" spc="300">
                <a:solidFill>
                  <a:schemeClr val="accent1"/>
                </a:solidFill>
                <a:latin typeface="Calibri"/>
                <a:ea typeface="Calibri"/>
                <a:cs typeface="Calibri"/>
                <a:sym typeface="Calibri"/>
              </a:rPr>
              <a:t>TRACK</a:t>
            </a:r>
            <a:endParaRPr sz="1200">
              <a:solidFill>
                <a:schemeClr val="dk1"/>
              </a:solidFill>
              <a:latin typeface="Calibri"/>
              <a:ea typeface="Calibri"/>
              <a:cs typeface="Calibri"/>
              <a:sym typeface="Calibri"/>
            </a:endParaRPr>
          </a:p>
        </p:txBody>
      </p:sp>
      <p:sp>
        <p:nvSpPr>
          <p:cNvPr id="35" name="Google Shape;35;p6"/>
          <p:cNvSpPr txBox="1"/>
          <p:nvPr/>
        </p:nvSpPr>
        <p:spPr>
          <a:xfrm>
            <a:off x="640080" y="4714240"/>
            <a:ext cx="438912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9D6C2"/>
              </a:buClr>
              <a:buSzPts val="1800"/>
              <a:buFont typeface="Calibri"/>
              <a:buNone/>
            </a:pPr>
            <a:r>
              <a:rPr lang="en-US" sz="1800">
                <a:solidFill>
                  <a:srgbClr val="E9D6C2"/>
                </a:solidFill>
                <a:latin typeface="Calibri"/>
                <a:ea typeface="Calibri"/>
                <a:cs typeface="Calibri"/>
                <a:sym typeface="Calibri"/>
              </a:rPr>
              <a:t>Open Innovation</a:t>
            </a:r>
            <a:endParaRPr sz="1800">
              <a:solidFill>
                <a:schemeClr val="dk1"/>
              </a:solidFill>
              <a:latin typeface="Calibri"/>
              <a:ea typeface="Calibri"/>
              <a:cs typeface="Calibri"/>
              <a:sym typeface="Calibri"/>
            </a:endParaRPr>
          </a:p>
        </p:txBody>
      </p:sp>
      <p:sp>
        <p:nvSpPr>
          <p:cNvPr id="36" name="Google Shape;36;p6"/>
          <p:cNvSpPr txBox="1"/>
          <p:nvPr/>
        </p:nvSpPr>
        <p:spPr>
          <a:xfrm>
            <a:off x="640080" y="6019800"/>
            <a:ext cx="4572000" cy="9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1"/>
              </a:buClr>
              <a:buSzPts val="1100"/>
              <a:buFont typeface="Calibri"/>
              <a:buNone/>
            </a:pPr>
            <a:r>
              <a:rPr lang="en-US" sz="1100" b="1" spc="300">
                <a:solidFill>
                  <a:schemeClr val="accent1"/>
                </a:solidFill>
                <a:latin typeface="Calibri"/>
                <a:ea typeface="Calibri"/>
                <a:cs typeface="Calibri"/>
                <a:sym typeface="Calibri"/>
              </a:rPr>
              <a:t>ORGANISED BY</a:t>
            </a:r>
            <a:endParaRPr/>
          </a:p>
          <a:p>
            <a:pPr marL="0" marR="0" lvl="0" indent="0" algn="l" rtl="0">
              <a:spcBef>
                <a:spcPts val="400"/>
              </a:spcBef>
              <a:spcAft>
                <a:spcPts val="0"/>
              </a:spcAft>
              <a:buClr>
                <a:schemeClr val="lt1"/>
              </a:buClr>
              <a:buSzPts val="1800"/>
              <a:buFont typeface="Calibri"/>
              <a:buNone/>
            </a:pPr>
            <a:r>
              <a:rPr lang="en-US" sz="1800" b="1">
                <a:solidFill>
                  <a:schemeClr val="lt1"/>
                </a:solidFill>
                <a:latin typeface="Calibri"/>
                <a:ea typeface="Calibri"/>
                <a:cs typeface="Calibri"/>
                <a:sym typeface="Calibri"/>
              </a:rPr>
              <a:t>Department of Computer Science &amp; Engineering</a:t>
            </a:r>
            <a:endParaRPr/>
          </a:p>
          <a:p>
            <a:pPr marL="0" marR="0" lvl="0" indent="0" algn="l" rtl="0">
              <a:spcBef>
                <a:spcPts val="200"/>
              </a:spcBef>
              <a:spcAft>
                <a:spcPts val="0"/>
              </a:spcAft>
              <a:buClr>
                <a:schemeClr val="accent5"/>
              </a:buClr>
              <a:buSzPts val="1400"/>
              <a:buFont typeface="Calibri"/>
              <a:buNone/>
            </a:pPr>
            <a:r>
              <a:rPr lang="en-US" sz="1400">
                <a:solidFill>
                  <a:schemeClr val="accent5"/>
                </a:solidFill>
                <a:latin typeface="Calibri"/>
                <a:ea typeface="Calibri"/>
                <a:cs typeface="Calibri"/>
                <a:sym typeface="Calibri"/>
              </a:rPr>
              <a:t>Chandigarh University</a:t>
            </a:r>
            <a:endParaRPr/>
          </a:p>
        </p:txBody>
      </p:sp>
      <p:sp>
        <p:nvSpPr>
          <p:cNvPr id="2" name="Demo label">
            <a:extLst>
              <a:ext uri="{FF2B5EF4-FFF2-40B4-BE49-F238E27FC236}">
                <a16:creationId xmlns:a16="http://schemas.microsoft.com/office/drawing/2014/main" id="{28A8FB43-0B7D-B2BA-CFD1-748986FA6F86}"/>
              </a:ext>
            </a:extLst>
          </p:cNvPr>
          <p:cNvSpPr txBox="1"/>
          <p:nvPr/>
        </p:nvSpPr>
        <p:spPr>
          <a:xfrm>
            <a:off x="640080" y="5217160"/>
            <a:ext cx="2743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1"/>
              </a:buClr>
              <a:buSzPts val="1200"/>
              <a:buFont typeface="Calibri"/>
              <a:buNone/>
            </a:pPr>
            <a:r>
              <a:rPr lang="en-US" sz="1200" b="1" spc="300">
                <a:solidFill>
                  <a:schemeClr val="accent1"/>
                </a:solidFill>
                <a:latin typeface="Calibri"/>
                <a:ea typeface="Calibri"/>
                <a:cs typeface="Calibri"/>
                <a:sym typeface="Calibri"/>
              </a:rPr>
              <a:t>LIVE PROTOTYPE</a:t>
            </a:r>
            <a:endParaRPr sz="1200">
              <a:solidFill>
                <a:schemeClr val="dk1"/>
              </a:solidFill>
              <a:latin typeface="Calibri"/>
              <a:ea typeface="Calibri"/>
              <a:cs typeface="Calibri"/>
              <a:sym typeface="Calibri"/>
            </a:endParaRPr>
          </a:p>
        </p:txBody>
      </p:sp>
      <p:sp>
        <p:nvSpPr>
          <p:cNvPr id="3" name="Demo link">
            <a:extLst>
              <a:ext uri="{FF2B5EF4-FFF2-40B4-BE49-F238E27FC236}">
                <a16:creationId xmlns:a16="http://schemas.microsoft.com/office/drawing/2014/main" id="{0DFD273B-B714-AF15-FEC2-3959BFDB2958}"/>
              </a:ext>
            </a:extLst>
          </p:cNvPr>
          <p:cNvSpPr txBox="1"/>
          <p:nvPr/>
        </p:nvSpPr>
        <p:spPr>
          <a:xfrm>
            <a:off x="640080" y="5491480"/>
            <a:ext cx="457200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9D6C2"/>
              </a:buClr>
              <a:buSzPts val="1800"/>
              <a:buFont typeface="Calibri"/>
              <a:buNone/>
            </a:pPr>
            <a:r>
              <a:rPr lang="en-US" sz="1800">
                <a:solidFill>
                  <a:srgbClr val="E9D6C2"/>
                </a:solidFill>
                <a:latin typeface="Calibri"/>
                <a:ea typeface="Calibri"/>
                <a:cs typeface="Calibri"/>
                <a:sym typeface="Calibri"/>
                <a:hlinkClick r:id="rId6"/>
              </a:rPr>
              <a:t>nazar-codevators.vercel.app</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1"/>
        <p:cNvGrpSpPr/>
        <p:nvPr/>
      </p:nvGrpSpPr>
      <p:grpSpPr>
        <a:xfrm>
          <a:off x="0" y="0"/>
          <a:ext cx="0" cy="0"/>
          <a:chOff x="0" y="0"/>
          <a:chExt cx="0" cy="0"/>
        </a:xfrm>
      </p:grpSpPr>
      <p:sp>
        <p:nvSpPr>
          <p:cNvPr id="42" name="Google Shape;42;p7"/>
          <p:cNvSpPr txBox="1">
            <a:spLocks noGrp="1"/>
          </p:cNvSpPr>
          <p:nvPr>
            <p:ph type="body" idx="1"/>
          </p:nvPr>
        </p:nvSpPr>
        <p:spPr>
          <a:xfrm>
            <a:off x="548640" y="384048"/>
            <a:ext cx="8229600" cy="292608"/>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accent1"/>
              </a:buClr>
              <a:buSzPts val="1200"/>
              <a:buNone/>
            </a:pPr>
            <a:r>
              <a:rPr lang="en-US" sz="1200" b="1" spc="300">
                <a:solidFill>
                  <a:schemeClr val="accent1"/>
                </a:solidFill>
              </a:rPr>
              <a:t>01  ·  TEAM INTRODUCTION &amp; CONTRIBUTIONS</a:t>
            </a:r>
            <a:endParaRPr sz="1200"/>
          </a:p>
        </p:txBody>
      </p:sp>
      <p:sp>
        <p:nvSpPr>
          <p:cNvPr id="43" name="Google Shape;43;p7"/>
          <p:cNvSpPr txBox="1">
            <a:spLocks noGrp="1"/>
          </p:cNvSpPr>
          <p:nvPr>
            <p:ph type="title"/>
          </p:nvPr>
        </p:nvSpPr>
        <p:spPr>
          <a:xfrm>
            <a:off x="548640" y="676656"/>
            <a:ext cx="950976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600"/>
              <a:buFont typeface="Cambria"/>
              <a:buNone/>
            </a:pPr>
            <a:r>
              <a:rPr lang="en-US" sz="3600" b="1">
                <a:solidFill>
                  <a:schemeClr val="dk1"/>
                </a:solidFill>
              </a:rPr>
              <a:t>Team Introduction &amp; Contributions</a:t>
            </a:r>
            <a:endParaRPr sz="3600"/>
          </a:p>
        </p:txBody>
      </p:sp>
      <p:sp>
        <p:nvSpPr>
          <p:cNvPr id="45" name="Google Shape;45;p7"/>
          <p:cNvSpPr txBox="1">
            <a:spLocks noGrp="1"/>
          </p:cNvSpPr>
          <p:nvPr>
            <p:ph type="sldNum" idx="4294967295"/>
          </p:nvPr>
        </p:nvSpPr>
        <p:spPr>
          <a:xfrm>
            <a:off x="11183112" y="6355080"/>
            <a:ext cx="457200" cy="27432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1000" b="0">
                <a:solidFill>
                  <a:schemeClr val="accent4"/>
                </a:solidFill>
                <a:latin typeface="Calibri"/>
                <a:ea typeface="Calibri"/>
                <a:cs typeface="Calibri"/>
                <a:sym typeface="Calibri"/>
              </a:rPr>
              <a:t>2</a:t>
            </a:r>
            <a:endParaRPr sz="1000">
              <a:solidFill>
                <a:schemeClr val="accent4"/>
              </a:solidFill>
              <a:latin typeface="Calibri"/>
              <a:ea typeface="Calibri"/>
              <a:cs typeface="Calibri"/>
              <a:sym typeface="Calibri"/>
            </a:endParaRPr>
          </a:p>
        </p:txBody>
      </p:sp>
      <p:graphicFrame>
        <p:nvGraphicFramePr>
          <p:cNvPr id="46" name="Table 45"/>
          <p:cNvGraphicFramePr>
            <a:graphicFrameLocks noGrp="1"/>
          </p:cNvGraphicFramePr>
          <p:nvPr/>
        </p:nvGraphicFramePr>
        <p:xfrm>
          <a:off x="548640" y="1783080"/>
          <a:ext cx="11064240" cy="3474720"/>
        </p:xfrm>
        <a:graphic>
          <a:graphicData uri="http://schemas.openxmlformats.org/drawingml/2006/table">
            <a:tbl>
              <a:tblPr>
                <a:tableStyleId>{2D5ABB26-0587-4C30-8999-92F81FD0307C}</a:tableStyleId>
              </a:tblPr>
              <a:tblGrid>
                <a:gridCol w="23774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tblGrid>
              <a:tr h="868680">
                <a:tc>
                  <a:txBody>
                    <a:bodyPr/>
                    <a:lstStyle/>
                    <a:p>
                      <a:r>
                        <a:rPr sz="1400" b="1">
                          <a:solidFill>
                            <a:srgbClr val="FFFFFF"/>
                          </a:solidFill>
                          <a:latin typeface="Calibri"/>
                        </a:rPr>
                        <a:t>Team Members</a:t>
                      </a:r>
                    </a:p>
                  </a:txBody>
                  <a:tcPr marT="27432" marB="27432" anchor="ctr">
                    <a:lnL w="9525">
                      <a:solidFill>
                        <a:srgbClr val="E5D3BE"/>
                      </a:solidFill>
                    </a:lnL>
                    <a:lnR w="9525">
                      <a:solidFill>
                        <a:srgbClr val="E5D3BE"/>
                      </a:solidFill>
                    </a:lnR>
                    <a:lnT w="9525">
                      <a:solidFill>
                        <a:srgbClr val="E5D3BE"/>
                      </a:solidFill>
                    </a:lnT>
                    <a:lnB w="9525">
                      <a:solidFill>
                        <a:srgbClr val="E5D3BE"/>
                      </a:solidFill>
                    </a:lnB>
                    <a:solidFill>
                      <a:srgbClr val="4A3B32"/>
                    </a:solidFill>
                  </a:tcPr>
                </a:tc>
                <a:tc>
                  <a:txBody>
                    <a:bodyPr/>
                    <a:lstStyle/>
                    <a:p>
                      <a:r>
                        <a:rPr sz="1400" b="1">
                          <a:solidFill>
                            <a:srgbClr val="FFFFFF"/>
                          </a:solidFill>
                          <a:latin typeface="Calibri"/>
                        </a:rPr>
                        <a:t>Roles</a:t>
                      </a:r>
                    </a:p>
                  </a:txBody>
                  <a:tcPr marT="27432" marB="27432" anchor="ctr">
                    <a:lnL w="9525">
                      <a:solidFill>
                        <a:srgbClr val="E5D3BE"/>
                      </a:solidFill>
                    </a:lnL>
                    <a:lnR w="9525">
                      <a:solidFill>
                        <a:srgbClr val="E5D3BE"/>
                      </a:solidFill>
                    </a:lnR>
                    <a:lnT w="9525">
                      <a:solidFill>
                        <a:srgbClr val="E5D3BE"/>
                      </a:solidFill>
                    </a:lnT>
                    <a:lnB w="9525">
                      <a:solidFill>
                        <a:srgbClr val="E5D3BE"/>
                      </a:solidFill>
                    </a:lnB>
                    <a:solidFill>
                      <a:srgbClr val="4A3B32"/>
                    </a:solidFill>
                  </a:tcPr>
                </a:tc>
                <a:tc>
                  <a:txBody>
                    <a:bodyPr/>
                    <a:lstStyle/>
                    <a:p>
                      <a:r>
                        <a:rPr sz="1400" b="1">
                          <a:solidFill>
                            <a:srgbClr val="FFFFFF"/>
                          </a:solidFill>
                          <a:latin typeface="Calibri"/>
                        </a:rPr>
                        <a:t>Skills</a:t>
                      </a:r>
                    </a:p>
                  </a:txBody>
                  <a:tcPr marT="27432" marB="27432" anchor="ctr">
                    <a:lnL w="9525">
                      <a:solidFill>
                        <a:srgbClr val="E5D3BE"/>
                      </a:solidFill>
                    </a:lnL>
                    <a:lnR w="9525">
                      <a:solidFill>
                        <a:srgbClr val="E5D3BE"/>
                      </a:solidFill>
                    </a:lnR>
                    <a:lnT w="9525">
                      <a:solidFill>
                        <a:srgbClr val="E5D3BE"/>
                      </a:solidFill>
                    </a:lnT>
                    <a:lnB w="9525">
                      <a:solidFill>
                        <a:srgbClr val="E5D3BE"/>
                      </a:solidFill>
                    </a:lnB>
                    <a:solidFill>
                      <a:srgbClr val="4A3B32"/>
                    </a:solidFill>
                  </a:tcPr>
                </a:tc>
                <a:tc>
                  <a:txBody>
                    <a:bodyPr/>
                    <a:lstStyle/>
                    <a:p>
                      <a:r>
                        <a:rPr sz="1400" b="1">
                          <a:solidFill>
                            <a:srgbClr val="FFFFFF"/>
                          </a:solidFill>
                          <a:latin typeface="Calibri"/>
                        </a:rPr>
                        <a:t>Division of Responsibilities</a:t>
                      </a:r>
                    </a:p>
                  </a:txBody>
                  <a:tcPr marT="27432" marB="27432" anchor="ctr">
                    <a:lnL w="9525">
                      <a:solidFill>
                        <a:srgbClr val="E5D3BE"/>
                      </a:solidFill>
                    </a:lnL>
                    <a:lnR w="9525">
                      <a:solidFill>
                        <a:srgbClr val="E5D3BE"/>
                      </a:solidFill>
                    </a:lnR>
                    <a:lnT w="9525">
                      <a:solidFill>
                        <a:srgbClr val="E5D3BE"/>
                      </a:solidFill>
                    </a:lnT>
                    <a:lnB w="9525">
                      <a:solidFill>
                        <a:srgbClr val="E5D3BE"/>
                      </a:solidFill>
                    </a:lnB>
                    <a:solidFill>
                      <a:srgbClr val="4A3B32"/>
                    </a:solidFill>
                  </a:tcPr>
                </a:tc>
                <a:extLst>
                  <a:ext uri="{0D108BD9-81ED-4DB2-BD59-A6C34878D82A}">
                    <a16:rowId xmlns:a16="http://schemas.microsoft.com/office/drawing/2014/main" val="10000"/>
                  </a:ext>
                </a:extLst>
              </a:tr>
              <a:tr h="868680">
                <a:tc>
                  <a:txBody>
                    <a:bodyPr/>
                    <a:lstStyle/>
                    <a:p>
                      <a:r>
                        <a:rPr sz="1400" b="1">
                          <a:solidFill>
                            <a:srgbClr val="1E1612"/>
                          </a:solidFill>
                          <a:latin typeface="Calibri"/>
                        </a:rPr>
                        <a:t>Kunal Mittal</a:t>
                      </a:r>
                    </a:p>
                  </a:txBody>
                  <a:tcPr marT="27432" marB="27432" anchor="ctr">
                    <a:lnL w="9525">
                      <a:solidFill>
                        <a:srgbClr val="E5D3BE"/>
                      </a:solidFill>
                    </a:lnL>
                    <a:lnR w="9525">
                      <a:solidFill>
                        <a:srgbClr val="E5D3BE"/>
                      </a:solidFill>
                    </a:lnR>
                    <a:lnT w="9525">
                      <a:solidFill>
                        <a:srgbClr val="E5D3BE"/>
                      </a:solidFill>
                    </a:lnT>
                    <a:lnB w="9525">
                      <a:solidFill>
                        <a:srgbClr val="E5D3BE"/>
                      </a:solidFill>
                    </a:lnB>
                    <a:solidFill>
                      <a:srgbClr val="FFF4E8"/>
                    </a:solidFill>
                  </a:tcPr>
                </a:tc>
                <a:tc>
                  <a:txBody>
                    <a:bodyPr/>
                    <a:lstStyle/>
                    <a:p>
                      <a:r>
                        <a:rPr sz="1400" b="0">
                          <a:solidFill>
                            <a:srgbClr val="1E1612"/>
                          </a:solidFill>
                          <a:latin typeface="Calibri"/>
                        </a:rPr>
                        <a:t>Team lead, backend and AI/ML</a:t>
                      </a:r>
                    </a:p>
                  </a:txBody>
                  <a:tcPr marT="27432" marB="27432" anchor="ctr">
                    <a:lnL w="9525">
                      <a:solidFill>
                        <a:srgbClr val="E5D3BE"/>
                      </a:solidFill>
                    </a:lnL>
                    <a:lnR w="9525">
                      <a:solidFill>
                        <a:srgbClr val="E5D3BE"/>
                      </a:solidFill>
                    </a:lnR>
                    <a:lnT w="9525">
                      <a:solidFill>
                        <a:srgbClr val="E5D3BE"/>
                      </a:solidFill>
                    </a:lnT>
                    <a:lnB w="9525">
                      <a:solidFill>
                        <a:srgbClr val="E5D3BE"/>
                      </a:solidFill>
                    </a:lnB>
                    <a:solidFill>
                      <a:srgbClr val="FFF4E8"/>
                    </a:solidFill>
                  </a:tcPr>
                </a:tc>
                <a:tc>
                  <a:txBody>
                    <a:bodyPr/>
                    <a:lstStyle/>
                    <a:p>
                      <a:r>
                        <a:rPr sz="1400" b="0">
                          <a:solidFill>
                            <a:srgbClr val="1E1612"/>
                          </a:solidFill>
                          <a:latin typeface="Calibri"/>
                        </a:rPr>
                        <a:t>Backend, AI/ML, web and mobile development, DSA</a:t>
                      </a:r>
                    </a:p>
                  </a:txBody>
                  <a:tcPr marT="27432" marB="27432" anchor="ctr">
                    <a:lnL w="9525">
                      <a:solidFill>
                        <a:srgbClr val="E5D3BE"/>
                      </a:solidFill>
                    </a:lnL>
                    <a:lnR w="9525">
                      <a:solidFill>
                        <a:srgbClr val="E5D3BE"/>
                      </a:solidFill>
                    </a:lnR>
                    <a:lnT w="9525">
                      <a:solidFill>
                        <a:srgbClr val="E5D3BE"/>
                      </a:solidFill>
                    </a:lnT>
                    <a:lnB w="9525">
                      <a:solidFill>
                        <a:srgbClr val="E5D3BE"/>
                      </a:solidFill>
                    </a:lnB>
                    <a:solidFill>
                      <a:srgbClr val="FFF4E8"/>
                    </a:solidFill>
                  </a:tcPr>
                </a:tc>
                <a:tc>
                  <a:txBody>
                    <a:bodyPr/>
                    <a:lstStyle/>
                    <a:p>
                      <a:r>
                        <a:rPr sz="1400" b="0">
                          <a:solidFill>
                            <a:srgbClr val="1E1612"/>
                          </a:solidFill>
                          <a:latin typeface="Calibri"/>
                        </a:rPr>
                        <a:t>Live audio pipeline, speech to text, scam detector</a:t>
                      </a:r>
                    </a:p>
                  </a:txBody>
                  <a:tcPr marT="27432" marB="27432" anchor="ctr">
                    <a:lnL w="9525">
                      <a:solidFill>
                        <a:srgbClr val="E5D3BE"/>
                      </a:solidFill>
                    </a:lnL>
                    <a:lnR w="9525">
                      <a:solidFill>
                        <a:srgbClr val="E5D3BE"/>
                      </a:solidFill>
                    </a:lnR>
                    <a:lnT w="9525">
                      <a:solidFill>
                        <a:srgbClr val="E5D3BE"/>
                      </a:solidFill>
                    </a:lnT>
                    <a:lnB w="9525">
                      <a:solidFill>
                        <a:srgbClr val="E5D3BE"/>
                      </a:solidFill>
                    </a:lnB>
                    <a:solidFill>
                      <a:srgbClr val="FFF4E8"/>
                    </a:solidFill>
                  </a:tcPr>
                </a:tc>
                <a:extLst>
                  <a:ext uri="{0D108BD9-81ED-4DB2-BD59-A6C34878D82A}">
                    <a16:rowId xmlns:a16="http://schemas.microsoft.com/office/drawing/2014/main" val="10001"/>
                  </a:ext>
                </a:extLst>
              </a:tr>
              <a:tr h="868680">
                <a:tc>
                  <a:txBody>
                    <a:bodyPr/>
                    <a:lstStyle/>
                    <a:p>
                      <a:r>
                        <a:rPr sz="1400" b="1">
                          <a:solidFill>
                            <a:srgbClr val="1E1612"/>
                          </a:solidFill>
                          <a:latin typeface="Calibri"/>
                        </a:rPr>
                        <a:t>Ansh Kumar</a:t>
                      </a:r>
                    </a:p>
                  </a:txBody>
                  <a:tcPr marT="27432" marB="27432" anchor="ctr">
                    <a:lnL w="9525">
                      <a:solidFill>
                        <a:srgbClr val="E5D3BE"/>
                      </a:solidFill>
                    </a:lnL>
                    <a:lnR w="9525">
                      <a:solidFill>
                        <a:srgbClr val="E5D3BE"/>
                      </a:solidFill>
                    </a:lnR>
                    <a:lnT w="9525">
                      <a:solidFill>
                        <a:srgbClr val="E5D3BE"/>
                      </a:solidFill>
                    </a:lnT>
                    <a:lnB w="9525">
                      <a:solidFill>
                        <a:srgbClr val="E5D3BE"/>
                      </a:solidFill>
                    </a:lnB>
                    <a:solidFill>
                      <a:srgbClr val="FFFFFF"/>
                    </a:solidFill>
                  </a:tcPr>
                </a:tc>
                <a:tc>
                  <a:txBody>
                    <a:bodyPr/>
                    <a:lstStyle/>
                    <a:p>
                      <a:r>
                        <a:rPr sz="1400" b="0">
                          <a:solidFill>
                            <a:srgbClr val="1E1612"/>
                          </a:solidFill>
                          <a:latin typeface="Calibri"/>
                        </a:rPr>
                        <a:t>Frontend and demo</a:t>
                      </a:r>
                    </a:p>
                  </a:txBody>
                  <a:tcPr marT="27432" marB="27432" anchor="ctr">
                    <a:lnL w="9525">
                      <a:solidFill>
                        <a:srgbClr val="E5D3BE"/>
                      </a:solidFill>
                    </a:lnL>
                    <a:lnR w="9525">
                      <a:solidFill>
                        <a:srgbClr val="E5D3BE"/>
                      </a:solidFill>
                    </a:lnR>
                    <a:lnT w="9525">
                      <a:solidFill>
                        <a:srgbClr val="E5D3BE"/>
                      </a:solidFill>
                    </a:lnT>
                    <a:lnB w="9525">
                      <a:solidFill>
                        <a:srgbClr val="E5D3BE"/>
                      </a:solidFill>
                    </a:lnB>
                    <a:solidFill>
                      <a:srgbClr val="FFFFFF"/>
                    </a:solidFill>
                  </a:tcPr>
                </a:tc>
                <a:tc>
                  <a:txBody>
                    <a:bodyPr/>
                    <a:lstStyle/>
                    <a:p>
                      <a:r>
                        <a:rPr sz="1400" b="0">
                          <a:solidFill>
                            <a:srgbClr val="1E1612"/>
                          </a:solidFill>
                          <a:latin typeface="Calibri"/>
                        </a:rPr>
                        <a:t>React, TypeScript, UI design, demo building</a:t>
                      </a:r>
                    </a:p>
                  </a:txBody>
                  <a:tcPr marT="27432" marB="27432" anchor="ctr">
                    <a:lnL w="9525">
                      <a:solidFill>
                        <a:srgbClr val="E5D3BE"/>
                      </a:solidFill>
                    </a:lnL>
                    <a:lnR w="9525">
                      <a:solidFill>
                        <a:srgbClr val="E5D3BE"/>
                      </a:solidFill>
                    </a:lnR>
                    <a:lnT w="9525">
                      <a:solidFill>
                        <a:srgbClr val="E5D3BE"/>
                      </a:solidFill>
                    </a:lnT>
                    <a:lnB w="9525">
                      <a:solidFill>
                        <a:srgbClr val="E5D3BE"/>
                      </a:solidFill>
                    </a:lnB>
                    <a:solidFill>
                      <a:srgbClr val="FFFFFF"/>
                    </a:solidFill>
                  </a:tcPr>
                </a:tc>
                <a:tc>
                  <a:txBody>
                    <a:bodyPr/>
                    <a:lstStyle/>
                    <a:p>
                      <a:r>
                        <a:rPr sz="1400" b="0">
                          <a:solidFill>
                            <a:srgbClr val="1E1612"/>
                          </a:solidFill>
                          <a:latin typeface="Calibri"/>
                        </a:rPr>
                        <a:t>Live screen, warning overlay, voice prompt, Telegram alert</a:t>
                      </a:r>
                    </a:p>
                  </a:txBody>
                  <a:tcPr marT="27432" marB="27432" anchor="ctr">
                    <a:lnL w="9525">
                      <a:solidFill>
                        <a:srgbClr val="E5D3BE"/>
                      </a:solidFill>
                    </a:lnL>
                    <a:lnR w="9525">
                      <a:solidFill>
                        <a:srgbClr val="E5D3BE"/>
                      </a:solidFill>
                    </a:lnR>
                    <a:lnT w="9525">
                      <a:solidFill>
                        <a:srgbClr val="E5D3BE"/>
                      </a:solidFill>
                    </a:lnT>
                    <a:lnB w="9525">
                      <a:solidFill>
                        <a:srgbClr val="E5D3BE"/>
                      </a:solidFill>
                    </a:lnB>
                    <a:solidFill>
                      <a:srgbClr val="FFFFFF"/>
                    </a:solidFill>
                  </a:tcPr>
                </a:tc>
                <a:extLst>
                  <a:ext uri="{0D108BD9-81ED-4DB2-BD59-A6C34878D82A}">
                    <a16:rowId xmlns:a16="http://schemas.microsoft.com/office/drawing/2014/main" val="10002"/>
                  </a:ext>
                </a:extLst>
              </a:tr>
              <a:tr h="868680">
                <a:tc>
                  <a:txBody>
                    <a:bodyPr/>
                    <a:lstStyle/>
                    <a:p>
                      <a:r>
                        <a:rPr sz="1400" b="1">
                          <a:solidFill>
                            <a:srgbClr val="1E1612"/>
                          </a:solidFill>
                          <a:latin typeface="Calibri"/>
                        </a:rPr>
                        <a:t>Shivani Kumari</a:t>
                      </a:r>
                    </a:p>
                  </a:txBody>
                  <a:tcPr marT="27432" marB="27432" anchor="ctr">
                    <a:lnL w="9525">
                      <a:solidFill>
                        <a:srgbClr val="E5D3BE"/>
                      </a:solidFill>
                    </a:lnL>
                    <a:lnR w="9525">
                      <a:solidFill>
                        <a:srgbClr val="E5D3BE"/>
                      </a:solidFill>
                    </a:lnR>
                    <a:lnT w="9525">
                      <a:solidFill>
                        <a:srgbClr val="E5D3BE"/>
                      </a:solidFill>
                    </a:lnT>
                    <a:lnB w="9525">
                      <a:solidFill>
                        <a:srgbClr val="E5D3BE"/>
                      </a:solidFill>
                    </a:lnB>
                    <a:solidFill>
                      <a:srgbClr val="FFF4E8"/>
                    </a:solidFill>
                  </a:tcPr>
                </a:tc>
                <a:tc>
                  <a:txBody>
                    <a:bodyPr/>
                    <a:lstStyle/>
                    <a:p>
                      <a:r>
                        <a:rPr sz="1400" b="0">
                          <a:solidFill>
                            <a:srgbClr val="1E1612"/>
                          </a:solidFill>
                          <a:latin typeface="Calibri"/>
                        </a:rPr>
                        <a:t>Product, data and pitch</a:t>
                      </a:r>
                    </a:p>
                  </a:txBody>
                  <a:tcPr marT="27432" marB="27432" anchor="ctr">
                    <a:lnL w="9525">
                      <a:solidFill>
                        <a:srgbClr val="E5D3BE"/>
                      </a:solidFill>
                    </a:lnL>
                    <a:lnR w="9525">
                      <a:solidFill>
                        <a:srgbClr val="E5D3BE"/>
                      </a:solidFill>
                    </a:lnR>
                    <a:lnT w="9525">
                      <a:solidFill>
                        <a:srgbClr val="E5D3BE"/>
                      </a:solidFill>
                    </a:lnT>
                    <a:lnB w="9525">
                      <a:solidFill>
                        <a:srgbClr val="E5D3BE"/>
                      </a:solidFill>
                    </a:lnB>
                    <a:solidFill>
                      <a:srgbClr val="FFF4E8"/>
                    </a:solidFill>
                  </a:tcPr>
                </a:tc>
                <a:tc>
                  <a:txBody>
                    <a:bodyPr/>
                    <a:lstStyle/>
                    <a:p>
                      <a:r>
                        <a:rPr sz="1400" b="0">
                          <a:solidFill>
                            <a:srgbClr val="1E1612"/>
                          </a:solidFill>
                          <a:latin typeface="Calibri"/>
                        </a:rPr>
                        <a:t>Research, call scripting, testing, presentation</a:t>
                      </a:r>
                    </a:p>
                  </a:txBody>
                  <a:tcPr marT="27432" marB="27432" anchor="ctr">
                    <a:lnL w="9525">
                      <a:solidFill>
                        <a:srgbClr val="E5D3BE"/>
                      </a:solidFill>
                    </a:lnL>
                    <a:lnR w="9525">
                      <a:solidFill>
                        <a:srgbClr val="E5D3BE"/>
                      </a:solidFill>
                    </a:lnR>
                    <a:lnT w="9525">
                      <a:solidFill>
                        <a:srgbClr val="E5D3BE"/>
                      </a:solidFill>
                    </a:lnT>
                    <a:lnB w="9525">
                      <a:solidFill>
                        <a:srgbClr val="E5D3BE"/>
                      </a:solidFill>
                    </a:lnB>
                    <a:solidFill>
                      <a:srgbClr val="FFF4E8"/>
                    </a:solidFill>
                  </a:tcPr>
                </a:tc>
                <a:tc>
                  <a:txBody>
                    <a:bodyPr/>
                    <a:lstStyle/>
                    <a:p>
                      <a:r>
                        <a:rPr sz="1400" b="0">
                          <a:solidFill>
                            <a:srgbClr val="1E1612"/>
                          </a:solidFill>
                          <a:latin typeface="Calibri"/>
                        </a:rPr>
                        <a:t>Call scripts, testing, business story, pitch</a:t>
                      </a:r>
                    </a:p>
                  </a:txBody>
                  <a:tcPr marT="27432" marB="27432" anchor="ctr">
                    <a:lnL w="9525">
                      <a:solidFill>
                        <a:srgbClr val="E5D3BE"/>
                      </a:solidFill>
                    </a:lnL>
                    <a:lnR w="9525">
                      <a:solidFill>
                        <a:srgbClr val="E5D3BE"/>
                      </a:solidFill>
                    </a:lnR>
                    <a:lnT w="9525">
                      <a:solidFill>
                        <a:srgbClr val="E5D3BE"/>
                      </a:solidFill>
                    </a:lnT>
                    <a:lnB w="9525">
                      <a:solidFill>
                        <a:srgbClr val="E5D3BE"/>
                      </a:solidFill>
                    </a:lnB>
                    <a:solidFill>
                      <a:srgbClr val="FFF4E8"/>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8"/>
          <p:cNvSpPr txBox="1">
            <a:spLocks noGrp="1"/>
          </p:cNvSpPr>
          <p:nvPr>
            <p:ph type="body" idx="1"/>
          </p:nvPr>
        </p:nvSpPr>
        <p:spPr>
          <a:xfrm>
            <a:off x="548640" y="384048"/>
            <a:ext cx="8229600" cy="292608"/>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accent1"/>
              </a:buClr>
              <a:buSzPts val="1200"/>
              <a:buNone/>
            </a:pPr>
            <a:r>
              <a:rPr lang="en-US" sz="1200" b="1" spc="300">
                <a:solidFill>
                  <a:schemeClr val="accent1"/>
                </a:solidFill>
              </a:rPr>
              <a:t>02  ·  PROBLEM STATEMENT</a:t>
            </a:r>
            <a:endParaRPr sz="1200"/>
          </a:p>
        </p:txBody>
      </p:sp>
      <p:sp>
        <p:nvSpPr>
          <p:cNvPr id="52" name="Google Shape;52;p8"/>
          <p:cNvSpPr txBox="1">
            <a:spLocks noGrp="1"/>
          </p:cNvSpPr>
          <p:nvPr>
            <p:ph type="title"/>
          </p:nvPr>
        </p:nvSpPr>
        <p:spPr>
          <a:xfrm>
            <a:off x="548640" y="676656"/>
            <a:ext cx="950976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600"/>
              <a:buFont typeface="Cambria"/>
              <a:buNone/>
            </a:pPr>
            <a:r>
              <a:rPr lang="en-US" sz="3600" b="1">
                <a:solidFill>
                  <a:schemeClr val="dk1"/>
                </a:solidFill>
              </a:rPr>
              <a:t>Problem Statement</a:t>
            </a:r>
            <a:endParaRPr sz="3600"/>
          </a:p>
        </p:txBody>
      </p:sp>
      <p:sp>
        <p:nvSpPr>
          <p:cNvPr id="53" name="Google Shape;53;p8"/>
          <p:cNvSpPr txBox="1">
            <a:spLocks noGrp="1"/>
          </p:cNvSpPr>
          <p:nvPr>
            <p:ph type="body" idx="2"/>
          </p:nvPr>
        </p:nvSpPr>
        <p:spPr>
          <a:xfrm>
            <a:off x="548640" y="1783080"/>
            <a:ext cx="6766560" cy="4114800"/>
          </a:xfrm>
          <a:prstGeom prst="rect">
            <a:avLst/>
          </a:prstGeom>
          <a:noFill/>
          <a:ln>
            <a:noFill/>
          </a:ln>
        </p:spPr>
        <p:txBody>
          <a:bodyPr spcFirstLastPara="1" wrap="square" lIns="0" tIns="0" rIns="0" bIns="0" anchor="t" anchorCtr="0">
            <a:noAutofit/>
          </a:bodyPr>
          <a:lstStyle/>
          <a:p>
            <a:pPr marL="320040" indent="-320040" algn="l">
              <a:spcBef>
                <a:spcPts val="0"/>
              </a:spcBef>
              <a:buClr>
                <a:schemeClr val="accent1"/>
              </a:buClr>
              <a:buSzPts val="1300"/>
              <a:buFont typeface="Arial"/>
              <a:buChar char="◆"/>
            </a:pPr>
            <a:r>
              <a:rPr lang="en-US" sz="1700" b="1">
                <a:solidFill>
                  <a:schemeClr val="dk1"/>
                </a:solidFill>
              </a:rPr>
              <a:t>Problem Definition</a:t>
            </a:r>
          </a:p>
          <a:p>
            <a:pPr marL="320040" indent="0" algn="l">
              <a:spcBef>
                <a:spcPts val="300"/>
              </a:spcBef>
              <a:buNone/>
            </a:pPr>
            <a:r>
              <a:rPr lang="en-US" sz="1400">
                <a:solidFill>
                  <a:schemeClr val="dk2"/>
                </a:solidFill>
              </a:rPr>
              <a:t>Scammers call a victim, pretend to be an officer or bank staff, and pressure them to share OTPs or send money. The victim finds out only after the money is gone. Today's protection mostly works before or after the call, not during it.</a:t>
            </a:r>
          </a:p>
          <a:p>
            <a:pPr marL="320040" indent="-320040" algn="l">
              <a:spcBef>
                <a:spcPts val="1100"/>
              </a:spcBef>
              <a:buClr>
                <a:schemeClr val="accent1"/>
              </a:buClr>
              <a:buSzPts val="1300"/>
              <a:buFont typeface="Arial"/>
              <a:buChar char="◆"/>
            </a:pPr>
            <a:r>
              <a:rPr lang="en-US" sz="1700" b="1">
                <a:solidFill>
                  <a:schemeClr val="dk1"/>
                </a:solidFill>
              </a:rPr>
              <a:t>Target Audience</a:t>
            </a:r>
          </a:p>
          <a:p>
            <a:pPr marL="320040" indent="0" algn="l">
              <a:spcBef>
                <a:spcPts val="300"/>
              </a:spcBef>
              <a:buNone/>
            </a:pPr>
            <a:r>
              <a:rPr lang="en-US" sz="1400">
                <a:solidFill>
                  <a:schemeClr val="dk2"/>
                </a:solidFill>
              </a:rPr>
              <a:t>Elders and first-time digital users, and the families who worry about them. Later: banks, payment apps and telecom operators who want to protect their customers.</a:t>
            </a:r>
          </a:p>
          <a:p>
            <a:pPr marL="320040" indent="-320040" algn="l">
              <a:spcBef>
                <a:spcPts val="1100"/>
              </a:spcBef>
              <a:buClr>
                <a:schemeClr val="accent1"/>
              </a:buClr>
              <a:buSzPts val="1300"/>
              <a:buFont typeface="Arial"/>
              <a:buChar char="◆"/>
            </a:pPr>
            <a:r>
              <a:rPr lang="en-US" sz="1700" b="1">
                <a:solidFill>
                  <a:schemeClr val="dk1"/>
                </a:solidFill>
              </a:rPr>
              <a:t>Importance of the Problem</a:t>
            </a:r>
          </a:p>
          <a:p>
            <a:pPr marL="320040" indent="0" algn="l">
              <a:spcBef>
                <a:spcPts val="300"/>
              </a:spcBef>
              <a:buNone/>
            </a:pPr>
            <a:r>
              <a:rPr lang="en-US" sz="1400">
                <a:solidFill>
                  <a:schemeClr val="dk2"/>
                </a:solidFill>
              </a:rPr>
              <a:t>About ₹1,935 crore was lost to “digital arrest” scams in 2024 [2][3]. Only about ₹60 crore was refunded out of ₹36,448 crore lost to cyber fraud from 2021 to Feb 2025 [1]. Money is rarely returned, so the call itself must be stopped.</a:t>
            </a:r>
          </a:p>
        </p:txBody>
      </p:sp>
      <p:sp>
        <p:nvSpPr>
          <p:cNvPr id="54" name="Google Shape;54;p8"/>
          <p:cNvSpPr txBox="1">
            <a:spLocks noGrp="1"/>
          </p:cNvSpPr>
          <p:nvPr>
            <p:ph type="sldNum" idx="4294967295"/>
          </p:nvPr>
        </p:nvSpPr>
        <p:spPr>
          <a:xfrm>
            <a:off x="11183112" y="6355080"/>
            <a:ext cx="457200" cy="27432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1000" b="0">
                <a:solidFill>
                  <a:schemeClr val="accent4"/>
                </a:solidFill>
                <a:latin typeface="Calibri"/>
                <a:ea typeface="Calibri"/>
                <a:cs typeface="Calibri"/>
                <a:sym typeface="Calibri"/>
              </a:rPr>
              <a:t>3</a:t>
            </a:r>
            <a:endParaRPr sz="1000">
              <a:solidFill>
                <a:schemeClr val="accent4"/>
              </a:solidFill>
              <a:latin typeface="Calibri"/>
              <a:ea typeface="Calibri"/>
              <a:cs typeface="Calibri"/>
              <a:sym typeface="Calibri"/>
            </a:endParaRPr>
          </a:p>
        </p:txBody>
      </p:sp>
      <p:graphicFrame>
        <p:nvGraphicFramePr>
          <p:cNvPr id="55" name="Chart 54"/>
          <p:cNvGraphicFramePr>
            <a:graphicFrameLocks noGrp="1"/>
          </p:cNvGraphicFramePr>
          <p:nvPr/>
        </p:nvGraphicFramePr>
        <p:xfrm>
          <a:off x="7589520" y="1783080"/>
          <a:ext cx="411480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56" name="TextBox 55"/>
          <p:cNvSpPr txBox="1"/>
          <p:nvPr/>
        </p:nvSpPr>
        <p:spPr>
          <a:xfrm>
            <a:off x="548640" y="6053328"/>
            <a:ext cx="11064240" cy="274320"/>
          </a:xfrm>
          <a:prstGeom prst="rect">
            <a:avLst/>
          </a:prstGeom>
          <a:noFill/>
        </p:spPr>
        <p:txBody>
          <a:bodyPr wrap="square" lIns="0" tIns="0" rIns="0" bIns="0">
            <a:spAutoFit/>
          </a:bodyPr>
          <a:lstStyle/>
          <a:p>
            <a:pPr algn="l"/>
            <a:r>
              <a:rPr sz="1000" b="0" i="0">
                <a:solidFill>
                  <a:srgbClr val="5B4636"/>
                </a:solidFill>
                <a:latin typeface="Calibri"/>
              </a:rPr>
              <a:t>Sources: [1] Scroll.in, [2] Inc42, [3] Moneylife, citing figures given to Parliament in March 2025. Chart shows the two years reported in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9"/>
          <p:cNvSpPr txBox="1">
            <a:spLocks noGrp="1"/>
          </p:cNvSpPr>
          <p:nvPr>
            <p:ph type="body" idx="1"/>
          </p:nvPr>
        </p:nvSpPr>
        <p:spPr>
          <a:xfrm>
            <a:off x="548640" y="384048"/>
            <a:ext cx="8229600" cy="292608"/>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accent1"/>
              </a:buClr>
              <a:buSzPts val="1200"/>
              <a:buNone/>
            </a:pPr>
            <a:r>
              <a:rPr lang="en-US" sz="1200" b="1" spc="300">
                <a:solidFill>
                  <a:schemeClr val="accent1"/>
                </a:solidFill>
              </a:rPr>
              <a:t>03  ·  PROBLEM CONTEXT &amp; EXISTING SOLUTIONS</a:t>
            </a:r>
            <a:endParaRPr sz="1200"/>
          </a:p>
        </p:txBody>
      </p:sp>
      <p:sp>
        <p:nvSpPr>
          <p:cNvPr id="61" name="Google Shape;61;p9"/>
          <p:cNvSpPr txBox="1">
            <a:spLocks noGrp="1"/>
          </p:cNvSpPr>
          <p:nvPr>
            <p:ph type="title"/>
          </p:nvPr>
        </p:nvSpPr>
        <p:spPr>
          <a:xfrm>
            <a:off x="548640" y="676656"/>
            <a:ext cx="950976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600"/>
              <a:buFont typeface="Cambria"/>
              <a:buNone/>
            </a:pPr>
            <a:r>
              <a:rPr lang="en-US" sz="3600" b="1">
                <a:solidFill>
                  <a:schemeClr val="dk1"/>
                </a:solidFill>
              </a:rPr>
              <a:t>Problem Context &amp; Existing Solutions</a:t>
            </a:r>
            <a:endParaRPr sz="3600"/>
          </a:p>
        </p:txBody>
      </p:sp>
      <p:sp>
        <p:nvSpPr>
          <p:cNvPr id="62" name="Google Shape;62;p9"/>
          <p:cNvSpPr txBox="1">
            <a:spLocks noGrp="1"/>
          </p:cNvSpPr>
          <p:nvPr>
            <p:ph type="body" idx="2"/>
          </p:nvPr>
        </p:nvSpPr>
        <p:spPr>
          <a:xfrm>
            <a:off x="548640" y="1783080"/>
            <a:ext cx="6858000" cy="4160520"/>
          </a:xfrm>
          <a:prstGeom prst="rect">
            <a:avLst/>
          </a:prstGeom>
          <a:noFill/>
          <a:ln>
            <a:noFill/>
          </a:ln>
        </p:spPr>
        <p:txBody>
          <a:bodyPr spcFirstLastPara="1" wrap="square" lIns="0" tIns="0" rIns="0" bIns="0" anchor="t" anchorCtr="0">
            <a:noAutofit/>
          </a:bodyPr>
          <a:lstStyle/>
          <a:p>
            <a:pPr marL="320040" indent="-320040" algn="l">
              <a:spcBef>
                <a:spcPts val="0"/>
              </a:spcBef>
              <a:buClr>
                <a:schemeClr val="accent1"/>
              </a:buClr>
              <a:buSzPts val="1300"/>
              <a:buFont typeface="Arial"/>
              <a:buChar char="◆"/>
            </a:pPr>
            <a:r>
              <a:rPr lang="en-US" sz="1700" b="1">
                <a:solidFill>
                  <a:schemeClr val="dk1"/>
                </a:solidFill>
              </a:rPr>
              <a:t>Background</a:t>
            </a:r>
          </a:p>
          <a:p>
            <a:pPr marL="320040" indent="0" algn="l">
              <a:spcBef>
                <a:spcPts val="200"/>
              </a:spcBef>
              <a:buNone/>
            </a:pPr>
            <a:r>
              <a:rPr lang="en-US" sz="1400">
                <a:solidFill>
                  <a:schemeClr val="dk2"/>
                </a:solidFill>
              </a:rPr>
              <a:t>In a “digital arrest” scam the caller poses as CBI, police or a bank, says you are in a crime case, keeps you on a video call, asks for OTP and details, then asks for money to a “safe account” [4][5][6].</a:t>
            </a:r>
          </a:p>
          <a:p>
            <a:pPr marL="320040" indent="-320040" algn="l">
              <a:spcBef>
                <a:spcPts val="900"/>
              </a:spcBef>
              <a:buClr>
                <a:schemeClr val="accent1"/>
              </a:buClr>
              <a:buSzPts val="1300"/>
              <a:buFont typeface="Arial"/>
              <a:buChar char="◆"/>
            </a:pPr>
            <a:r>
              <a:rPr lang="en-US" sz="1700" b="1">
                <a:solidFill>
                  <a:schemeClr val="dk1"/>
                </a:solidFill>
              </a:rPr>
              <a:t>Research</a:t>
            </a:r>
          </a:p>
          <a:p>
            <a:pPr marL="320040" indent="0" algn="l">
              <a:spcBef>
                <a:spcPts val="200"/>
              </a:spcBef>
              <a:buNone/>
            </a:pPr>
            <a:r>
              <a:rPr lang="en-US" sz="1400">
                <a:solidFill>
                  <a:schemeClr val="dk2"/>
                </a:solidFill>
              </a:rPr>
              <a:t>We studied I4C and state cyber-crime advisories [4][5][6] and the figures given to Parliament [1][2][3]. From them we built our own five-step detection framework (right). That each step uses words that can be spotted in speech is our hypothesis, and we will test it.</a:t>
            </a:r>
          </a:p>
          <a:p>
            <a:pPr marL="320040" indent="-320040" algn="l">
              <a:spcBef>
                <a:spcPts val="900"/>
              </a:spcBef>
              <a:buClr>
                <a:schemeClr val="accent1"/>
              </a:buClr>
              <a:buSzPts val="1300"/>
              <a:buFont typeface="Arial"/>
              <a:buChar char="◆"/>
            </a:pPr>
            <a:r>
              <a:rPr lang="en-US" sz="1700" b="1">
                <a:solidFill>
                  <a:schemeClr val="dk1"/>
                </a:solidFill>
              </a:rPr>
              <a:t>Current Solutions</a:t>
            </a:r>
          </a:p>
          <a:p>
            <a:pPr marL="320040" indent="0" algn="l">
              <a:spcBef>
                <a:spcPts val="200"/>
              </a:spcBef>
              <a:buNone/>
            </a:pPr>
            <a:r>
              <a:rPr lang="en-US" sz="1400">
                <a:solidFill>
                  <a:schemeClr val="dk2"/>
                </a:solidFill>
              </a:rPr>
              <a:t>Spam-number apps, bank SMS alerts and awareness campaigns.</a:t>
            </a:r>
          </a:p>
          <a:p>
            <a:pPr marL="320040" indent="-320040" algn="l">
              <a:spcBef>
                <a:spcPts val="900"/>
              </a:spcBef>
              <a:buClr>
                <a:schemeClr val="accent1"/>
              </a:buClr>
              <a:buSzPts val="1300"/>
              <a:buFont typeface="Arial"/>
              <a:buChar char="◆"/>
            </a:pPr>
            <a:r>
              <a:rPr lang="en-US" sz="1700" b="1">
                <a:solidFill>
                  <a:schemeClr val="dk1"/>
                </a:solidFill>
              </a:rPr>
              <a:t>Identified Gaps</a:t>
            </a:r>
          </a:p>
          <a:p>
            <a:pPr marL="320040" indent="0" algn="l">
              <a:spcBef>
                <a:spcPts val="200"/>
              </a:spcBef>
              <a:buNone/>
            </a:pPr>
            <a:r>
              <a:rPr lang="en-US" sz="1400">
                <a:solidFill>
                  <a:schemeClr val="dk2"/>
                </a:solidFill>
              </a:rPr>
              <a:t>Spam lists need a number to be reported first. SMS alerts come after the money moves. Campaigns rely on the user to remember. In our assessment, none of them acts live during the call, in Hindi or Punjabi, or alerts the family. That is the gap Nazar fills.</a:t>
            </a:r>
          </a:p>
        </p:txBody>
      </p:sp>
      <p:sp>
        <p:nvSpPr>
          <p:cNvPr id="63" name="Google Shape;63;p9"/>
          <p:cNvSpPr txBox="1">
            <a:spLocks noGrp="1"/>
          </p:cNvSpPr>
          <p:nvPr>
            <p:ph type="sldNum" idx="4294967295"/>
          </p:nvPr>
        </p:nvSpPr>
        <p:spPr>
          <a:xfrm>
            <a:off x="11183112" y="6355080"/>
            <a:ext cx="457200" cy="27432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1000" b="0">
                <a:solidFill>
                  <a:schemeClr val="accent4"/>
                </a:solidFill>
                <a:latin typeface="Calibri"/>
                <a:ea typeface="Calibri"/>
                <a:cs typeface="Calibri"/>
                <a:sym typeface="Calibri"/>
              </a:rPr>
              <a:t>4</a:t>
            </a:r>
            <a:endParaRPr sz="1000">
              <a:solidFill>
                <a:schemeClr val="accent4"/>
              </a:solidFill>
              <a:latin typeface="Calibri"/>
              <a:ea typeface="Calibri"/>
              <a:cs typeface="Calibri"/>
              <a:sym typeface="Calibri"/>
            </a:endParaRPr>
          </a:p>
        </p:txBody>
      </p:sp>
      <p:sp>
        <p:nvSpPr>
          <p:cNvPr id="64" name="TextBox 63"/>
          <p:cNvSpPr txBox="1"/>
          <p:nvPr/>
        </p:nvSpPr>
        <p:spPr>
          <a:xfrm>
            <a:off x="7955279" y="1737360"/>
            <a:ext cx="3657600" cy="215444"/>
          </a:xfrm>
          <a:prstGeom prst="rect">
            <a:avLst/>
          </a:prstGeom>
          <a:noFill/>
        </p:spPr>
        <p:txBody>
          <a:bodyPr wrap="square" lIns="0" tIns="0" rIns="0" bIns="0">
            <a:spAutoFit/>
          </a:bodyPr>
          <a:lstStyle/>
          <a:p>
            <a:pPr algn="l"/>
            <a:r>
              <a:rPr lang="en-IN" sz="1400" b="1" i="0">
                <a:solidFill>
                  <a:srgbClr val="1E1612"/>
                </a:solidFill>
                <a:latin typeface="Calibri"/>
              </a:rPr>
              <a:t>Our five-step detection framework</a:t>
            </a:r>
            <a:endParaRPr sz="1400" b="1" i="0">
              <a:solidFill>
                <a:srgbClr val="1E1612"/>
              </a:solidFill>
              <a:latin typeface="Calibri"/>
            </a:endParaRPr>
          </a:p>
        </p:txBody>
      </p:sp>
      <p:sp>
        <p:nvSpPr>
          <p:cNvPr id="65" name="Rectangle 64"/>
          <p:cNvSpPr/>
          <p:nvPr/>
        </p:nvSpPr>
        <p:spPr>
          <a:xfrm>
            <a:off x="7955279" y="2103120"/>
            <a:ext cx="3657600" cy="530352"/>
          </a:xfrm>
          <a:prstGeom prst="rect">
            <a:avLst/>
          </a:prstGeom>
          <a:solidFill>
            <a:srgbClr val="4A3B32"/>
          </a:solidFill>
          <a:ln>
            <a:noFill/>
          </a:ln>
          <a:effectLst/>
        </p:spPr>
        <p:txBody>
          <a:bodyPr wrap="square" tIns="36576" bIns="36576" rtlCol="0" anchor="ctr"/>
          <a:lstStyle/>
          <a:p>
            <a:pPr algn="l"/>
            <a:r>
              <a:rPr sz="1300" b="0">
                <a:solidFill>
                  <a:srgbClr val="FFFFFF"/>
                </a:solidFill>
                <a:latin typeface="Calibri"/>
              </a:rPr>
              <a:t>1  Pretends to be an officer</a:t>
            </a:r>
          </a:p>
        </p:txBody>
      </p:sp>
      <p:cxnSp>
        <p:nvCxnSpPr>
          <p:cNvPr id="66" name="Connector 65"/>
          <p:cNvCxnSpPr/>
          <p:nvPr/>
        </p:nvCxnSpPr>
        <p:spPr>
          <a:xfrm>
            <a:off x="9784080" y="2633472"/>
            <a:ext cx="0" cy="219455"/>
          </a:xfrm>
          <a:prstGeom prst="line">
            <a:avLst/>
          </a:prstGeom>
          <a:ln w="19050">
            <a:solidFill>
              <a:srgbClr val="5B4636"/>
            </a:solidFill>
            <a:tailEnd type="triangle"/>
          </a:ln>
        </p:spPr>
      </p:cxnSp>
      <p:sp>
        <p:nvSpPr>
          <p:cNvPr id="67" name="Rectangle 66"/>
          <p:cNvSpPr/>
          <p:nvPr/>
        </p:nvSpPr>
        <p:spPr>
          <a:xfrm>
            <a:off x="7955279" y="2852927"/>
            <a:ext cx="3657600" cy="530352"/>
          </a:xfrm>
          <a:prstGeom prst="rect">
            <a:avLst/>
          </a:prstGeom>
          <a:solidFill>
            <a:srgbClr val="4A3B32"/>
          </a:solidFill>
          <a:ln>
            <a:noFill/>
          </a:ln>
          <a:effectLst/>
        </p:spPr>
        <p:txBody>
          <a:bodyPr wrap="square" tIns="36576" bIns="36576" rtlCol="0" anchor="ctr"/>
          <a:lstStyle/>
          <a:p>
            <a:pPr algn="l"/>
            <a:r>
              <a:rPr sz="1300" b="0">
                <a:solidFill>
                  <a:srgbClr val="FFFFFF"/>
                </a:solidFill>
                <a:latin typeface="Calibri"/>
              </a:rPr>
              <a:t>2  Says you are in a crime case</a:t>
            </a:r>
          </a:p>
        </p:txBody>
      </p:sp>
      <p:cxnSp>
        <p:nvCxnSpPr>
          <p:cNvPr id="68" name="Connector 67"/>
          <p:cNvCxnSpPr/>
          <p:nvPr/>
        </p:nvCxnSpPr>
        <p:spPr>
          <a:xfrm>
            <a:off x="9784080" y="3383279"/>
            <a:ext cx="0" cy="219456"/>
          </a:xfrm>
          <a:prstGeom prst="line">
            <a:avLst/>
          </a:prstGeom>
          <a:ln w="19050">
            <a:solidFill>
              <a:srgbClr val="5B4636"/>
            </a:solidFill>
            <a:tailEnd type="triangle"/>
          </a:ln>
        </p:spPr>
      </p:cxnSp>
      <p:sp>
        <p:nvSpPr>
          <p:cNvPr id="69" name="Rectangle 68"/>
          <p:cNvSpPr/>
          <p:nvPr/>
        </p:nvSpPr>
        <p:spPr>
          <a:xfrm>
            <a:off x="7955279" y="3602735"/>
            <a:ext cx="3657600" cy="530352"/>
          </a:xfrm>
          <a:prstGeom prst="rect">
            <a:avLst/>
          </a:prstGeom>
          <a:solidFill>
            <a:srgbClr val="4A3B32"/>
          </a:solidFill>
          <a:ln>
            <a:noFill/>
          </a:ln>
          <a:effectLst/>
        </p:spPr>
        <p:txBody>
          <a:bodyPr wrap="square" tIns="36576" bIns="36576" rtlCol="0" anchor="ctr"/>
          <a:lstStyle/>
          <a:p>
            <a:pPr algn="l"/>
            <a:r>
              <a:rPr sz="1300" b="0">
                <a:solidFill>
                  <a:srgbClr val="FFFFFF"/>
                </a:solidFill>
                <a:latin typeface="Calibri"/>
              </a:rPr>
              <a:t>3  Keeps you on video, tell no one</a:t>
            </a:r>
          </a:p>
        </p:txBody>
      </p:sp>
      <p:cxnSp>
        <p:nvCxnSpPr>
          <p:cNvPr id="70" name="Connector 69"/>
          <p:cNvCxnSpPr/>
          <p:nvPr/>
        </p:nvCxnSpPr>
        <p:spPr>
          <a:xfrm>
            <a:off x="9784080" y="4133087"/>
            <a:ext cx="0" cy="219457"/>
          </a:xfrm>
          <a:prstGeom prst="line">
            <a:avLst/>
          </a:prstGeom>
          <a:ln w="19050">
            <a:solidFill>
              <a:srgbClr val="5B4636"/>
            </a:solidFill>
            <a:tailEnd type="triangle"/>
          </a:ln>
        </p:spPr>
      </p:cxnSp>
      <p:sp>
        <p:nvSpPr>
          <p:cNvPr id="71" name="Rectangle 70"/>
          <p:cNvSpPr/>
          <p:nvPr/>
        </p:nvSpPr>
        <p:spPr>
          <a:xfrm>
            <a:off x="7955279" y="4352544"/>
            <a:ext cx="3657600" cy="530352"/>
          </a:xfrm>
          <a:prstGeom prst="rect">
            <a:avLst/>
          </a:prstGeom>
          <a:solidFill>
            <a:srgbClr val="4A3B32"/>
          </a:solidFill>
          <a:ln>
            <a:noFill/>
          </a:ln>
          <a:effectLst/>
        </p:spPr>
        <p:txBody>
          <a:bodyPr wrap="square" tIns="36576" bIns="36576" rtlCol="0" anchor="ctr"/>
          <a:lstStyle/>
          <a:p>
            <a:pPr algn="l"/>
            <a:r>
              <a:rPr sz="1300" b="0">
                <a:solidFill>
                  <a:srgbClr val="FFFFFF"/>
                </a:solidFill>
                <a:latin typeface="Calibri"/>
              </a:rPr>
              <a:t>4  Asks for OTP and details</a:t>
            </a:r>
          </a:p>
        </p:txBody>
      </p:sp>
      <p:cxnSp>
        <p:nvCxnSpPr>
          <p:cNvPr id="72" name="Connector 71"/>
          <p:cNvCxnSpPr/>
          <p:nvPr/>
        </p:nvCxnSpPr>
        <p:spPr>
          <a:xfrm>
            <a:off x="9784080" y="4882896"/>
            <a:ext cx="0" cy="219456"/>
          </a:xfrm>
          <a:prstGeom prst="line">
            <a:avLst/>
          </a:prstGeom>
          <a:ln w="19050">
            <a:solidFill>
              <a:srgbClr val="5B4636"/>
            </a:solidFill>
            <a:tailEnd type="triangle"/>
          </a:ln>
        </p:spPr>
      </p:cxnSp>
      <p:sp>
        <p:nvSpPr>
          <p:cNvPr id="73" name="Rectangle 72"/>
          <p:cNvSpPr/>
          <p:nvPr/>
        </p:nvSpPr>
        <p:spPr>
          <a:xfrm>
            <a:off x="7955279" y="5102352"/>
            <a:ext cx="3657600" cy="530352"/>
          </a:xfrm>
          <a:prstGeom prst="rect">
            <a:avLst/>
          </a:prstGeom>
          <a:solidFill>
            <a:srgbClr val="8B2E16"/>
          </a:solidFill>
          <a:ln>
            <a:noFill/>
          </a:ln>
          <a:effectLst/>
        </p:spPr>
        <p:txBody>
          <a:bodyPr wrap="square" tIns="36576" bIns="36576" rtlCol="0" anchor="ctr"/>
          <a:lstStyle/>
          <a:p>
            <a:pPr algn="l"/>
            <a:r>
              <a:rPr sz="1300" b="1">
                <a:solidFill>
                  <a:srgbClr val="FFFFFF"/>
                </a:solidFill>
                <a:latin typeface="Calibri"/>
              </a:rPr>
              <a:t>5  Asks for money to a “safe account”</a:t>
            </a:r>
          </a:p>
        </p:txBody>
      </p:sp>
      <p:sp>
        <p:nvSpPr>
          <p:cNvPr id="74" name="TextBox 73"/>
          <p:cNvSpPr txBox="1"/>
          <p:nvPr/>
        </p:nvSpPr>
        <p:spPr>
          <a:xfrm>
            <a:off x="548640" y="6053328"/>
            <a:ext cx="11064240" cy="153888"/>
          </a:xfrm>
          <a:prstGeom prst="rect">
            <a:avLst/>
          </a:prstGeom>
          <a:noFill/>
        </p:spPr>
        <p:txBody>
          <a:bodyPr wrap="square" lIns="0" tIns="0" rIns="0" bIns="0">
            <a:spAutoFit/>
          </a:bodyPr>
          <a:lstStyle/>
          <a:p>
            <a:pPr algn="l"/>
            <a:r>
              <a:rPr sz="1000" b="0" i="0">
                <a:solidFill>
                  <a:srgbClr val="5B4636"/>
                </a:solidFill>
                <a:latin typeface="Calibri"/>
              </a:rPr>
              <a:t>Sources: [1] Scroll.in, [2] Inc42, [3] Moneylife, [4] PTI/Tribune on I4C advisory, [5] Gujarat Cyber Crime, [6] CyberSecure India. </a:t>
            </a:r>
            <a:r>
              <a:rPr lang="en-US" sz="1000" b="0" i="0">
                <a:solidFill>
                  <a:srgbClr val="5B4636"/>
                </a:solidFill>
                <a:latin typeface="Calibri"/>
              </a:rPr>
              <a:t>Five-step framework: our synthesis of [4][5][6]. Gap analysis: our own.</a:t>
            </a:r>
            <a:endParaRPr sz="1000" b="0" i="0">
              <a:solidFill>
                <a:srgbClr val="5B4636"/>
              </a:solidFill>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0"/>
          <p:cNvSpPr txBox="1">
            <a:spLocks noGrp="1"/>
          </p:cNvSpPr>
          <p:nvPr>
            <p:ph type="body" idx="1"/>
          </p:nvPr>
        </p:nvSpPr>
        <p:spPr>
          <a:xfrm>
            <a:off x="548640" y="384048"/>
            <a:ext cx="8229600" cy="292608"/>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accent1"/>
              </a:buClr>
              <a:buSzPts val="1200"/>
              <a:buNone/>
            </a:pPr>
            <a:r>
              <a:rPr lang="en-US" sz="1200" b="1" spc="300">
                <a:solidFill>
                  <a:schemeClr val="accent1"/>
                </a:solidFill>
              </a:rPr>
              <a:t>04  ·  PROPOSED SOLUTION</a:t>
            </a:r>
            <a:endParaRPr sz="1200"/>
          </a:p>
        </p:txBody>
      </p:sp>
      <p:sp>
        <p:nvSpPr>
          <p:cNvPr id="70" name="Google Shape;70;p10"/>
          <p:cNvSpPr txBox="1">
            <a:spLocks noGrp="1"/>
          </p:cNvSpPr>
          <p:nvPr>
            <p:ph type="title"/>
          </p:nvPr>
        </p:nvSpPr>
        <p:spPr>
          <a:xfrm>
            <a:off x="548640" y="676656"/>
            <a:ext cx="950976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600"/>
              <a:buFont typeface="Cambria"/>
              <a:buNone/>
            </a:pPr>
            <a:r>
              <a:rPr lang="en-US" sz="3600" b="1">
                <a:solidFill>
                  <a:schemeClr val="dk1"/>
                </a:solidFill>
              </a:rPr>
              <a:t>Proposed Solution</a:t>
            </a:r>
            <a:endParaRPr sz="3600"/>
          </a:p>
        </p:txBody>
      </p:sp>
      <p:sp>
        <p:nvSpPr>
          <p:cNvPr id="71" name="Google Shape;71;p10"/>
          <p:cNvSpPr txBox="1">
            <a:spLocks noGrp="1"/>
          </p:cNvSpPr>
          <p:nvPr>
            <p:ph type="body" idx="2"/>
          </p:nvPr>
        </p:nvSpPr>
        <p:spPr>
          <a:xfrm>
            <a:off x="548640" y="1783080"/>
            <a:ext cx="6766560" cy="4114800"/>
          </a:xfrm>
          <a:prstGeom prst="rect">
            <a:avLst/>
          </a:prstGeom>
          <a:noFill/>
          <a:ln>
            <a:noFill/>
          </a:ln>
        </p:spPr>
        <p:txBody>
          <a:bodyPr spcFirstLastPara="1" wrap="square" lIns="0" tIns="0" rIns="0" bIns="0" anchor="t" anchorCtr="0">
            <a:noAutofit/>
          </a:bodyPr>
          <a:lstStyle/>
          <a:p>
            <a:pPr marL="320040" indent="-320040" algn="l">
              <a:spcBef>
                <a:spcPts val="0"/>
              </a:spcBef>
              <a:buClr>
                <a:schemeClr val="accent1"/>
              </a:buClr>
              <a:buSzPts val="1300"/>
              <a:buFont typeface="Arial"/>
              <a:buChar char="◆"/>
            </a:pPr>
            <a:r>
              <a:rPr lang="en-US" sz="1900" b="1">
                <a:solidFill>
                  <a:schemeClr val="dk1"/>
                </a:solidFill>
              </a:rPr>
              <a:t>Solution Overview</a:t>
            </a:r>
          </a:p>
          <a:p>
            <a:pPr marL="320040" indent="0" algn="l">
              <a:spcBef>
                <a:spcPts val="300"/>
              </a:spcBef>
              <a:buNone/>
            </a:pPr>
            <a:r>
              <a:rPr lang="en-US" sz="1600">
                <a:solidFill>
                  <a:schemeClr val="dk2"/>
                </a:solidFill>
              </a:rPr>
              <a:t>Nazar listens to a phone call on the user's own device, turns speech into text, scores the scam risk from 0 to 100, and warns the user the moment the risk is high.</a:t>
            </a:r>
          </a:p>
          <a:p>
            <a:pPr marL="320040" indent="-320040" algn="l">
              <a:spcBef>
                <a:spcPts val="1400"/>
              </a:spcBef>
              <a:buClr>
                <a:schemeClr val="accent1"/>
              </a:buClr>
              <a:buSzPts val="1300"/>
              <a:buFont typeface="Arial"/>
              <a:buChar char="◆"/>
            </a:pPr>
            <a:r>
              <a:rPr lang="en-US" sz="1900" b="1">
                <a:solidFill>
                  <a:schemeClr val="dk1"/>
                </a:solidFill>
              </a:rPr>
              <a:t>Core Idea</a:t>
            </a:r>
          </a:p>
          <a:p>
            <a:pPr marL="320040" indent="0" algn="l">
              <a:spcBef>
                <a:spcPts val="300"/>
              </a:spcBef>
              <a:buNone/>
            </a:pPr>
            <a:r>
              <a:rPr lang="en-US" sz="1600">
                <a:solidFill>
                  <a:schemeClr val="dk2"/>
                </a:solidFill>
              </a:rPr>
              <a:t>Our five-step detection framework, drawn from cyber-crime advisories, models how these calls usually unfold. Nazar tracks how far a call has gone through it and acts before step 5, the money transfer.</a:t>
            </a:r>
          </a:p>
          <a:p>
            <a:pPr marL="320040" indent="-320040" algn="l">
              <a:spcBef>
                <a:spcPts val="1400"/>
              </a:spcBef>
              <a:buClr>
                <a:schemeClr val="accent1"/>
              </a:buClr>
              <a:buSzPts val="1300"/>
              <a:buFont typeface="Arial"/>
              <a:buChar char="◆"/>
            </a:pPr>
            <a:r>
              <a:rPr lang="en-US" sz="1900" b="1">
                <a:solidFill>
                  <a:schemeClr val="dk1"/>
                </a:solidFill>
              </a:rPr>
              <a:t>How It Addresses the Problem</a:t>
            </a:r>
          </a:p>
          <a:p>
            <a:pPr marL="320040" indent="0" algn="l">
              <a:spcBef>
                <a:spcPts val="300"/>
              </a:spcBef>
              <a:buNone/>
            </a:pPr>
            <a:r>
              <a:rPr lang="en-US" sz="1600">
                <a:solidFill>
                  <a:schemeClr val="dk2"/>
                </a:solidFill>
              </a:rPr>
              <a:t>A live warning in Hindi, Punjabi or Hinglish, spoken aloud, plus an alert to a trusted family member. Audio stays on the device and is not saved.</a:t>
            </a:r>
          </a:p>
        </p:txBody>
      </p:sp>
      <p:sp>
        <p:nvSpPr>
          <p:cNvPr id="72" name="Google Shape;72;p10"/>
          <p:cNvSpPr txBox="1">
            <a:spLocks noGrp="1"/>
          </p:cNvSpPr>
          <p:nvPr>
            <p:ph type="sldNum" idx="4294967295"/>
          </p:nvPr>
        </p:nvSpPr>
        <p:spPr>
          <a:xfrm>
            <a:off x="11183112" y="6355080"/>
            <a:ext cx="457200" cy="27432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1000" b="0">
                <a:solidFill>
                  <a:schemeClr val="accent4"/>
                </a:solidFill>
                <a:latin typeface="Calibri"/>
                <a:ea typeface="Calibri"/>
                <a:cs typeface="Calibri"/>
                <a:sym typeface="Calibri"/>
              </a:rPr>
              <a:t>5</a:t>
            </a:r>
            <a:endParaRPr sz="1000">
              <a:solidFill>
                <a:schemeClr val="accent4"/>
              </a:solidFill>
              <a:latin typeface="Calibri"/>
              <a:ea typeface="Calibri"/>
              <a:cs typeface="Calibri"/>
              <a:sym typeface="Calibri"/>
            </a:endParaRPr>
          </a:p>
        </p:txBody>
      </p:sp>
      <p:sp>
        <p:nvSpPr>
          <p:cNvPr id="73" name="TextBox 72"/>
          <p:cNvSpPr txBox="1"/>
          <p:nvPr/>
        </p:nvSpPr>
        <p:spPr>
          <a:xfrm>
            <a:off x="7589520" y="1737360"/>
            <a:ext cx="4114800" cy="274320"/>
          </a:xfrm>
          <a:prstGeom prst="rect">
            <a:avLst/>
          </a:prstGeom>
          <a:noFill/>
        </p:spPr>
        <p:txBody>
          <a:bodyPr wrap="square" lIns="0" tIns="0" rIns="0" bIns="0">
            <a:spAutoFit/>
          </a:bodyPr>
          <a:lstStyle/>
          <a:p>
            <a:pPr algn="l"/>
            <a:r>
              <a:rPr sz="1400" b="1" i="0">
                <a:solidFill>
                  <a:srgbClr val="1E1612"/>
                </a:solidFill>
                <a:latin typeface="Calibri"/>
              </a:rPr>
              <a:t>Who gets what</a:t>
            </a:r>
          </a:p>
        </p:txBody>
      </p:sp>
      <p:graphicFrame>
        <p:nvGraphicFramePr>
          <p:cNvPr id="74" name="Table 73"/>
          <p:cNvGraphicFramePr>
            <a:graphicFrameLocks noGrp="1"/>
          </p:cNvGraphicFramePr>
          <p:nvPr/>
        </p:nvGraphicFramePr>
        <p:xfrm>
          <a:off x="7589520" y="2103120"/>
          <a:ext cx="4114800" cy="3108960"/>
        </p:xfrm>
        <a:graphic>
          <a:graphicData uri="http://schemas.openxmlformats.org/drawingml/2006/table">
            <a:tbl>
              <a:tblPr>
                <a:tableStyleId>{2D5ABB26-0587-4C30-8999-92F81FD0307C}</a:tableStyleId>
              </a:tblPr>
              <a:tblGrid>
                <a:gridCol w="1325880">
                  <a:extLst>
                    <a:ext uri="{9D8B030D-6E8A-4147-A177-3AD203B41FA5}">
                      <a16:colId xmlns:a16="http://schemas.microsoft.com/office/drawing/2014/main" val="20000"/>
                    </a:ext>
                  </a:extLst>
                </a:gridCol>
                <a:gridCol w="2788920">
                  <a:extLst>
                    <a:ext uri="{9D8B030D-6E8A-4147-A177-3AD203B41FA5}">
                      <a16:colId xmlns:a16="http://schemas.microsoft.com/office/drawing/2014/main" val="20001"/>
                    </a:ext>
                  </a:extLst>
                </a:gridCol>
              </a:tblGrid>
              <a:tr h="777240">
                <a:tc>
                  <a:txBody>
                    <a:bodyPr/>
                    <a:lstStyle/>
                    <a:p>
                      <a:r>
                        <a:rPr sz="1300" b="1">
                          <a:solidFill>
                            <a:srgbClr val="FFFFFF"/>
                          </a:solidFill>
                          <a:latin typeface="Calibri"/>
                        </a:rPr>
                        <a:t>Who</a:t>
                      </a:r>
                    </a:p>
                  </a:txBody>
                  <a:tcPr marT="27432" marB="27432" anchor="ctr">
                    <a:lnL w="9525">
                      <a:solidFill>
                        <a:srgbClr val="E5D3BE"/>
                      </a:solidFill>
                    </a:lnL>
                    <a:lnR w="9525">
                      <a:solidFill>
                        <a:srgbClr val="E5D3BE"/>
                      </a:solidFill>
                    </a:lnR>
                    <a:lnT w="9525">
                      <a:solidFill>
                        <a:srgbClr val="E5D3BE"/>
                      </a:solidFill>
                    </a:lnT>
                    <a:lnB w="9525">
                      <a:solidFill>
                        <a:srgbClr val="E5D3BE"/>
                      </a:solidFill>
                    </a:lnB>
                    <a:solidFill>
                      <a:srgbClr val="4A3B32"/>
                    </a:solidFill>
                  </a:tcPr>
                </a:tc>
                <a:tc>
                  <a:txBody>
                    <a:bodyPr/>
                    <a:lstStyle/>
                    <a:p>
                      <a:r>
                        <a:rPr sz="1300" b="1">
                          <a:solidFill>
                            <a:srgbClr val="FFFFFF"/>
                          </a:solidFill>
                          <a:latin typeface="Calibri"/>
                        </a:rPr>
                        <a:t>Value</a:t>
                      </a:r>
                    </a:p>
                  </a:txBody>
                  <a:tcPr marT="27432" marB="27432" anchor="ctr">
                    <a:lnL w="9525">
                      <a:solidFill>
                        <a:srgbClr val="E5D3BE"/>
                      </a:solidFill>
                    </a:lnL>
                    <a:lnR w="9525">
                      <a:solidFill>
                        <a:srgbClr val="E5D3BE"/>
                      </a:solidFill>
                    </a:lnR>
                    <a:lnT w="9525">
                      <a:solidFill>
                        <a:srgbClr val="E5D3BE"/>
                      </a:solidFill>
                    </a:lnT>
                    <a:lnB w="9525">
                      <a:solidFill>
                        <a:srgbClr val="E5D3BE"/>
                      </a:solidFill>
                    </a:lnB>
                    <a:solidFill>
                      <a:srgbClr val="4A3B32"/>
                    </a:solidFill>
                  </a:tcPr>
                </a:tc>
                <a:extLst>
                  <a:ext uri="{0D108BD9-81ED-4DB2-BD59-A6C34878D82A}">
                    <a16:rowId xmlns:a16="http://schemas.microsoft.com/office/drawing/2014/main" val="10000"/>
                  </a:ext>
                </a:extLst>
              </a:tr>
              <a:tr h="777240">
                <a:tc>
                  <a:txBody>
                    <a:bodyPr/>
                    <a:lstStyle/>
                    <a:p>
                      <a:r>
                        <a:rPr sz="1200" b="1">
                          <a:solidFill>
                            <a:srgbClr val="1E1612"/>
                          </a:solidFill>
                          <a:latin typeface="Calibri"/>
                        </a:rPr>
                        <a:t>Users and elders</a:t>
                      </a:r>
                    </a:p>
                  </a:txBody>
                  <a:tcPr marT="27432" marB="27432" anchor="ctr">
                    <a:lnL w="9525">
                      <a:solidFill>
                        <a:srgbClr val="E5D3BE"/>
                      </a:solidFill>
                    </a:lnL>
                    <a:lnR w="9525">
                      <a:solidFill>
                        <a:srgbClr val="E5D3BE"/>
                      </a:solidFill>
                    </a:lnR>
                    <a:lnT w="9525">
                      <a:solidFill>
                        <a:srgbClr val="E5D3BE"/>
                      </a:solidFill>
                    </a:lnT>
                    <a:lnB w="9525">
                      <a:solidFill>
                        <a:srgbClr val="E5D3BE"/>
                      </a:solidFill>
                    </a:lnB>
                    <a:solidFill>
                      <a:srgbClr val="FFF4E8"/>
                    </a:solidFill>
                  </a:tcPr>
                </a:tc>
                <a:tc>
                  <a:txBody>
                    <a:bodyPr/>
                    <a:lstStyle/>
                    <a:p>
                      <a:r>
                        <a:rPr sz="1200" b="0">
                          <a:solidFill>
                            <a:srgbClr val="1E1612"/>
                          </a:solidFill>
                          <a:latin typeface="Calibri"/>
                        </a:rPr>
                        <a:t>A clear warning in real time, in their own language</a:t>
                      </a:r>
                    </a:p>
                  </a:txBody>
                  <a:tcPr marT="27432" marB="27432" anchor="ctr">
                    <a:lnL w="9525">
                      <a:solidFill>
                        <a:srgbClr val="E5D3BE"/>
                      </a:solidFill>
                    </a:lnL>
                    <a:lnR w="9525">
                      <a:solidFill>
                        <a:srgbClr val="E5D3BE"/>
                      </a:solidFill>
                    </a:lnR>
                    <a:lnT w="9525">
                      <a:solidFill>
                        <a:srgbClr val="E5D3BE"/>
                      </a:solidFill>
                    </a:lnT>
                    <a:lnB w="9525">
                      <a:solidFill>
                        <a:srgbClr val="E5D3BE"/>
                      </a:solidFill>
                    </a:lnB>
                    <a:solidFill>
                      <a:srgbClr val="FFF4E8"/>
                    </a:solidFill>
                  </a:tcPr>
                </a:tc>
                <a:extLst>
                  <a:ext uri="{0D108BD9-81ED-4DB2-BD59-A6C34878D82A}">
                    <a16:rowId xmlns:a16="http://schemas.microsoft.com/office/drawing/2014/main" val="10001"/>
                  </a:ext>
                </a:extLst>
              </a:tr>
              <a:tr h="777240">
                <a:tc>
                  <a:txBody>
                    <a:bodyPr/>
                    <a:lstStyle/>
                    <a:p>
                      <a:r>
                        <a:rPr sz="1200" b="1">
                          <a:solidFill>
                            <a:srgbClr val="1E1612"/>
                          </a:solidFill>
                          <a:latin typeface="Calibri"/>
                        </a:rPr>
                        <a:t>Family</a:t>
                      </a:r>
                    </a:p>
                  </a:txBody>
                  <a:tcPr marT="27432" marB="27432" anchor="ctr">
                    <a:lnL w="9525">
                      <a:solidFill>
                        <a:srgbClr val="E5D3BE"/>
                      </a:solidFill>
                    </a:lnL>
                    <a:lnR w="9525">
                      <a:solidFill>
                        <a:srgbClr val="E5D3BE"/>
                      </a:solidFill>
                    </a:lnR>
                    <a:lnT w="9525">
                      <a:solidFill>
                        <a:srgbClr val="E5D3BE"/>
                      </a:solidFill>
                    </a:lnT>
                    <a:lnB w="9525">
                      <a:solidFill>
                        <a:srgbClr val="E5D3BE"/>
                      </a:solidFill>
                    </a:lnB>
                    <a:solidFill>
                      <a:srgbClr val="FFFFFF"/>
                    </a:solidFill>
                  </a:tcPr>
                </a:tc>
                <a:tc>
                  <a:txBody>
                    <a:bodyPr/>
                    <a:lstStyle/>
                    <a:p>
                      <a:r>
                        <a:rPr sz="1200" b="0">
                          <a:solidFill>
                            <a:srgbClr val="1E1612"/>
                          </a:solidFill>
                          <a:latin typeface="Calibri"/>
                        </a:rPr>
                        <a:t>An instant alert, so they can call and stop the transfer</a:t>
                      </a:r>
                    </a:p>
                  </a:txBody>
                  <a:tcPr marT="27432" marB="27432" anchor="ctr">
                    <a:lnL w="9525">
                      <a:solidFill>
                        <a:srgbClr val="E5D3BE"/>
                      </a:solidFill>
                    </a:lnL>
                    <a:lnR w="9525">
                      <a:solidFill>
                        <a:srgbClr val="E5D3BE"/>
                      </a:solidFill>
                    </a:lnR>
                    <a:lnT w="9525">
                      <a:solidFill>
                        <a:srgbClr val="E5D3BE"/>
                      </a:solidFill>
                    </a:lnT>
                    <a:lnB w="9525">
                      <a:solidFill>
                        <a:srgbClr val="E5D3BE"/>
                      </a:solidFill>
                    </a:lnB>
                    <a:solidFill>
                      <a:srgbClr val="FFFFFF"/>
                    </a:solidFill>
                  </a:tcPr>
                </a:tc>
                <a:extLst>
                  <a:ext uri="{0D108BD9-81ED-4DB2-BD59-A6C34878D82A}">
                    <a16:rowId xmlns:a16="http://schemas.microsoft.com/office/drawing/2014/main" val="10002"/>
                  </a:ext>
                </a:extLst>
              </a:tr>
              <a:tr h="777240">
                <a:tc>
                  <a:txBody>
                    <a:bodyPr/>
                    <a:lstStyle/>
                    <a:p>
                      <a:r>
                        <a:rPr sz="1200" b="1">
                          <a:solidFill>
                            <a:srgbClr val="1E1612"/>
                          </a:solidFill>
                          <a:latin typeface="Calibri"/>
                        </a:rPr>
                        <a:t>Banks and telecom partners</a:t>
                      </a:r>
                    </a:p>
                  </a:txBody>
                  <a:tcPr marT="27432" marB="27432" anchor="ctr">
                    <a:lnL w="9525">
                      <a:solidFill>
                        <a:srgbClr val="E5D3BE"/>
                      </a:solidFill>
                    </a:lnL>
                    <a:lnR w="9525">
                      <a:solidFill>
                        <a:srgbClr val="E5D3BE"/>
                      </a:solidFill>
                    </a:lnR>
                    <a:lnT w="9525">
                      <a:solidFill>
                        <a:srgbClr val="E5D3BE"/>
                      </a:solidFill>
                    </a:lnT>
                    <a:lnB w="9525">
                      <a:solidFill>
                        <a:srgbClr val="E5D3BE"/>
                      </a:solidFill>
                    </a:lnB>
                    <a:solidFill>
                      <a:srgbClr val="FFF4E8"/>
                    </a:solidFill>
                  </a:tcPr>
                </a:tc>
                <a:tc>
                  <a:txBody>
                    <a:bodyPr/>
                    <a:lstStyle/>
                    <a:p>
                      <a:r>
                        <a:rPr sz="1200" b="0">
                          <a:solidFill>
                            <a:srgbClr val="1E1612"/>
                          </a:solidFill>
                          <a:latin typeface="Calibri"/>
                        </a:rPr>
                        <a:t>Fewer fraud cases and a protection feature to offer (expected, to be tested)</a:t>
                      </a:r>
                    </a:p>
                  </a:txBody>
                  <a:tcPr marT="27432" marB="27432" anchor="ctr">
                    <a:lnL w="9525">
                      <a:solidFill>
                        <a:srgbClr val="E5D3BE"/>
                      </a:solidFill>
                    </a:lnL>
                    <a:lnR w="9525">
                      <a:solidFill>
                        <a:srgbClr val="E5D3BE"/>
                      </a:solidFill>
                    </a:lnR>
                    <a:lnT w="9525">
                      <a:solidFill>
                        <a:srgbClr val="E5D3BE"/>
                      </a:solidFill>
                    </a:lnT>
                    <a:lnB w="9525">
                      <a:solidFill>
                        <a:srgbClr val="E5D3BE"/>
                      </a:solidFill>
                    </a:lnB>
                    <a:solidFill>
                      <a:srgbClr val="FFF4E8"/>
                    </a:solidFill>
                  </a:tcPr>
                </a:tc>
                <a:extLst>
                  <a:ext uri="{0D108BD9-81ED-4DB2-BD59-A6C34878D82A}">
                    <a16:rowId xmlns:a16="http://schemas.microsoft.com/office/drawing/2014/main" val="10003"/>
                  </a:ext>
                </a:extLst>
              </a:tr>
            </a:tbl>
          </a:graphicData>
        </a:graphic>
      </p:graphicFrame>
      <p:sp>
        <p:nvSpPr>
          <p:cNvPr id="75" name="Rectangle 74"/>
          <p:cNvSpPr/>
          <p:nvPr/>
        </p:nvSpPr>
        <p:spPr>
          <a:xfrm>
            <a:off x="7589520" y="5349240"/>
            <a:ext cx="4114800" cy="640080"/>
          </a:xfrm>
          <a:prstGeom prst="rect">
            <a:avLst/>
          </a:prstGeom>
          <a:solidFill>
            <a:srgbClr val="C9962B"/>
          </a:solidFill>
          <a:ln>
            <a:noFill/>
          </a:ln>
          <a:effectLst/>
        </p:spPr>
        <p:txBody>
          <a:bodyPr wrap="square" tIns="36576" bIns="36576" rtlCol="0" anchor="ctr"/>
          <a:lstStyle/>
          <a:p>
            <a:pPr algn="l"/>
            <a:r>
              <a:rPr sz="1200" b="1">
                <a:solidFill>
                  <a:srgbClr val="1E1612"/>
                </a:solidFill>
                <a:latin typeface="Calibri"/>
              </a:rPr>
              <a:t>Business model: </a:t>
            </a:r>
            <a:r>
              <a:rPr sz="1200" b="0">
                <a:solidFill>
                  <a:srgbClr val="1E1612"/>
                </a:solidFill>
                <a:latin typeface="Calibri"/>
              </a:rPr>
              <a:t>free for families; partners pay a licence or per-user fee. Not yet validated.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1"/>
          <p:cNvSpPr txBox="1">
            <a:spLocks noGrp="1"/>
          </p:cNvSpPr>
          <p:nvPr>
            <p:ph type="body" idx="1"/>
          </p:nvPr>
        </p:nvSpPr>
        <p:spPr>
          <a:xfrm>
            <a:off x="548640" y="384048"/>
            <a:ext cx="8229600" cy="292608"/>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accent1"/>
              </a:buClr>
              <a:buSzPts val="1200"/>
              <a:buNone/>
            </a:pPr>
            <a:r>
              <a:rPr lang="en-US" sz="1200" b="1" spc="300">
                <a:solidFill>
                  <a:schemeClr val="accent1"/>
                </a:solidFill>
              </a:rPr>
              <a:t>05  ·  KEY FEATURES &amp; INNOVATION</a:t>
            </a:r>
            <a:endParaRPr sz="1200"/>
          </a:p>
        </p:txBody>
      </p:sp>
      <p:sp>
        <p:nvSpPr>
          <p:cNvPr id="79" name="Google Shape;79;p11"/>
          <p:cNvSpPr txBox="1">
            <a:spLocks noGrp="1"/>
          </p:cNvSpPr>
          <p:nvPr>
            <p:ph type="title"/>
          </p:nvPr>
        </p:nvSpPr>
        <p:spPr>
          <a:xfrm>
            <a:off x="548640" y="676656"/>
            <a:ext cx="950976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600"/>
              <a:buFont typeface="Cambria"/>
              <a:buNone/>
            </a:pPr>
            <a:r>
              <a:rPr lang="en-US" sz="3600" b="1">
                <a:solidFill>
                  <a:schemeClr val="dk1"/>
                </a:solidFill>
              </a:rPr>
              <a:t>Key Features &amp; Innovation</a:t>
            </a:r>
            <a:endParaRPr sz="3600"/>
          </a:p>
        </p:txBody>
      </p:sp>
      <p:sp>
        <p:nvSpPr>
          <p:cNvPr id="80" name="Google Shape;80;p11"/>
          <p:cNvSpPr txBox="1">
            <a:spLocks noGrp="1"/>
          </p:cNvSpPr>
          <p:nvPr>
            <p:ph type="body" idx="2"/>
          </p:nvPr>
        </p:nvSpPr>
        <p:spPr>
          <a:xfrm>
            <a:off x="548640" y="1783080"/>
            <a:ext cx="6766560" cy="4160520"/>
          </a:xfrm>
          <a:prstGeom prst="rect">
            <a:avLst/>
          </a:prstGeom>
          <a:noFill/>
          <a:ln>
            <a:noFill/>
          </a:ln>
        </p:spPr>
        <p:txBody>
          <a:bodyPr spcFirstLastPara="1" wrap="square" lIns="0" tIns="0" rIns="0" bIns="0" anchor="t" anchorCtr="0">
            <a:noAutofit/>
          </a:bodyPr>
          <a:lstStyle/>
          <a:p>
            <a:pPr marL="320040" indent="-320040" algn="l">
              <a:spcBef>
                <a:spcPts val="0"/>
              </a:spcBef>
              <a:buClr>
                <a:schemeClr val="accent1"/>
              </a:buClr>
              <a:buSzPts val="1300"/>
              <a:buFont typeface="Arial"/>
              <a:buChar char="◆"/>
            </a:pPr>
            <a:r>
              <a:rPr lang="en-US" sz="1800" b="1">
                <a:solidFill>
                  <a:schemeClr val="dk1"/>
                </a:solidFill>
              </a:rPr>
              <a:t>Core Features</a:t>
            </a:r>
          </a:p>
          <a:p>
            <a:pPr marL="320040" indent="0" algn="l">
              <a:spcBef>
                <a:spcPts val="300"/>
              </a:spcBef>
              <a:buNone/>
            </a:pPr>
            <a:r>
              <a:rPr lang="en-US" sz="1500">
                <a:solidFill>
                  <a:schemeClr val="dk2"/>
                </a:solidFill>
              </a:rPr>
              <a:t>Live speech to text; a five-step risk score with reasons; a full-screen and spoken warning; a Telegram alert to family; a demo mode with scripted calls.</a:t>
            </a:r>
          </a:p>
          <a:p>
            <a:pPr marL="320040" indent="-320040" algn="l">
              <a:spcBef>
                <a:spcPts val="1200"/>
              </a:spcBef>
              <a:buClr>
                <a:schemeClr val="accent1"/>
              </a:buClr>
              <a:buSzPts val="1300"/>
              <a:buFont typeface="Arial"/>
              <a:buChar char="◆"/>
            </a:pPr>
            <a:r>
              <a:rPr lang="en-US" sz="1800" b="1">
                <a:solidFill>
                  <a:schemeClr val="dk1"/>
                </a:solidFill>
              </a:rPr>
              <a:t>Unique Selling Points</a:t>
            </a:r>
          </a:p>
          <a:p>
            <a:pPr marL="320040" indent="0" algn="l">
              <a:spcBef>
                <a:spcPts val="300"/>
              </a:spcBef>
              <a:buNone/>
            </a:pPr>
            <a:r>
              <a:rPr lang="en-US" sz="1500">
                <a:solidFill>
                  <a:schemeClr val="dk2"/>
                </a:solidFill>
              </a:rPr>
              <a:t>Works during the call. Works on new numbers because it listens to what is said. Hindi, Punjabi and Hinglish. Family in the loop. Free for families, licensable by banks and telecom operators.</a:t>
            </a:r>
          </a:p>
          <a:p>
            <a:pPr marL="320040" indent="-320040" algn="l">
              <a:spcBef>
                <a:spcPts val="1200"/>
              </a:spcBef>
              <a:buClr>
                <a:schemeClr val="accent1"/>
              </a:buClr>
              <a:buSzPts val="1300"/>
              <a:buFont typeface="Arial"/>
              <a:buChar char="◆"/>
            </a:pPr>
            <a:r>
              <a:rPr lang="en-US" sz="1800" b="1">
                <a:solidFill>
                  <a:schemeClr val="dk1"/>
                </a:solidFill>
              </a:rPr>
              <a:t>Innovative Aspects</a:t>
            </a:r>
          </a:p>
          <a:p>
            <a:pPr marL="320040" indent="0" algn="l">
              <a:spcBef>
                <a:spcPts val="300"/>
              </a:spcBef>
              <a:buNone/>
            </a:pPr>
            <a:r>
              <a:rPr lang="en-US" sz="1500">
                <a:solidFill>
                  <a:schemeClr val="dk2"/>
                </a:solidFill>
              </a:rPr>
              <a:t>It scores the progress of the scam script, not single words. A genuine line like “never share your OTP” lowers the score, so real bank calls are not flagged. Privacy by design: on-device, no audio stored.</a:t>
            </a:r>
          </a:p>
        </p:txBody>
      </p:sp>
      <p:sp>
        <p:nvSpPr>
          <p:cNvPr id="81" name="Google Shape;81;p11"/>
          <p:cNvSpPr txBox="1">
            <a:spLocks noGrp="1"/>
          </p:cNvSpPr>
          <p:nvPr>
            <p:ph type="sldNum" idx="4294967295"/>
          </p:nvPr>
        </p:nvSpPr>
        <p:spPr>
          <a:xfrm>
            <a:off x="11183112" y="6355080"/>
            <a:ext cx="457200" cy="27432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1000" b="0">
                <a:solidFill>
                  <a:schemeClr val="accent4"/>
                </a:solidFill>
                <a:latin typeface="Calibri"/>
                <a:ea typeface="Calibri"/>
                <a:cs typeface="Calibri"/>
                <a:sym typeface="Calibri"/>
              </a:rPr>
              <a:t>6</a:t>
            </a:r>
            <a:endParaRPr sz="1000">
              <a:solidFill>
                <a:schemeClr val="accent4"/>
              </a:solidFill>
              <a:latin typeface="Calibri"/>
              <a:ea typeface="Calibri"/>
              <a:cs typeface="Calibri"/>
              <a:sym typeface="Calibri"/>
            </a:endParaRPr>
          </a:p>
        </p:txBody>
      </p:sp>
      <p:sp>
        <p:nvSpPr>
          <p:cNvPr id="82" name="TextBox 81"/>
          <p:cNvSpPr txBox="1"/>
          <p:nvPr/>
        </p:nvSpPr>
        <p:spPr>
          <a:xfrm>
            <a:off x="7589520" y="1737360"/>
            <a:ext cx="4114800" cy="215444"/>
          </a:xfrm>
          <a:prstGeom prst="rect">
            <a:avLst/>
          </a:prstGeom>
          <a:noFill/>
        </p:spPr>
        <p:txBody>
          <a:bodyPr wrap="square" lIns="0" tIns="0" rIns="0" bIns="0">
            <a:spAutoFit/>
          </a:bodyPr>
          <a:lstStyle/>
          <a:p>
            <a:pPr algn="l"/>
            <a:r>
              <a:rPr lang="en-US" sz="1400" b="1" i="0">
                <a:solidFill>
                  <a:srgbClr val="1E1612"/>
                </a:solidFill>
                <a:latin typeface="Calibri"/>
              </a:rPr>
              <a:t>Risk score in the prototype, sample call S1</a:t>
            </a:r>
            <a:endParaRPr sz="1400" b="1" i="0">
              <a:solidFill>
                <a:srgbClr val="1E1612"/>
              </a:solidFill>
              <a:latin typeface="Calibri"/>
            </a:endParaRPr>
          </a:p>
        </p:txBody>
      </p:sp>
      <p:graphicFrame>
        <p:nvGraphicFramePr>
          <p:cNvPr id="83" name="Chart 82"/>
          <p:cNvGraphicFramePr>
            <a:graphicFrameLocks noGrp="1"/>
          </p:cNvGraphicFramePr>
          <p:nvPr>
            <p:extLst>
              <p:ext uri="{D42A27DB-BD31-4B8C-83A1-F6EECF244321}">
                <p14:modId xmlns:p14="http://schemas.microsoft.com/office/powerpoint/2010/main" val="2458988354"/>
              </p:ext>
            </p:extLst>
          </p:nvPr>
        </p:nvGraphicFramePr>
        <p:xfrm>
          <a:off x="7589520" y="2011680"/>
          <a:ext cx="41148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84" name="Rectangle 83"/>
          <p:cNvSpPr/>
          <p:nvPr/>
        </p:nvSpPr>
        <p:spPr>
          <a:xfrm>
            <a:off x="7589520" y="4892040"/>
            <a:ext cx="4114800" cy="1051560"/>
          </a:xfrm>
          <a:prstGeom prst="rect">
            <a:avLst/>
          </a:prstGeom>
          <a:solidFill>
            <a:srgbClr val="FFF4E8"/>
          </a:solidFill>
          <a:ln w="12700">
            <a:solidFill>
              <a:srgbClr val="E5D3BE"/>
            </a:solidFill>
          </a:ln>
          <a:effectLst/>
        </p:spPr>
        <p:txBody>
          <a:bodyPr wrap="square" tIns="36576" bIns="36576" rtlCol="0" anchor="ctr"/>
          <a:lstStyle/>
          <a:p>
            <a:pPr algn="l"/>
            <a:r>
              <a:rPr lang="en-US" sz="1100" b="1">
                <a:solidFill>
                  <a:srgbClr val="1E1612"/>
                </a:solidFill>
                <a:latin typeface="Calibri"/>
              </a:rPr>
              <a:t>Starting weights:</a:t>
            </a:r>
            <a:r>
              <a:rPr lang="en-US" sz="1100">
                <a:solidFill>
                  <a:srgbClr val="1E1612"/>
                </a:solidFill>
                <a:latin typeface="Calibri"/>
              </a:rPr>
              <a:t> Authority 0.35, Fear 0.50, Isolation 0.70, Control 0.80, Transfer 0.90. Alert at 70 or more. Real output of our prototype on scripted call S1: the alert fires at line 3, three lines before money is asked for.</a:t>
            </a:r>
            <a:endParaRPr sz="1100">
              <a:solidFill>
                <a:srgbClr val="1E1612"/>
              </a:solidFill>
              <a:latin typeface="Calibri"/>
            </a:endParaRPr>
          </a:p>
        </p:txBody>
      </p:sp>
      <p:sp>
        <p:nvSpPr>
          <p:cNvPr id="85" name="TextBox 84"/>
          <p:cNvSpPr txBox="1"/>
          <p:nvPr/>
        </p:nvSpPr>
        <p:spPr>
          <a:xfrm>
            <a:off x="548640" y="6053328"/>
            <a:ext cx="11064240" cy="274320"/>
          </a:xfrm>
          <a:prstGeom prst="rect">
            <a:avLst/>
          </a:prstGeom>
          <a:noFill/>
        </p:spPr>
        <p:txBody>
          <a:bodyPr wrap="square" lIns="0" tIns="0" rIns="0" bIns="0">
            <a:spAutoFit/>
          </a:bodyPr>
          <a:lstStyle/>
          <a:p>
            <a:pPr algn="l"/>
            <a:r>
              <a:rPr sz="1000" b="0" i="0">
                <a:solidFill>
                  <a:srgbClr val="5B4636"/>
                </a:solidFill>
                <a:latin typeface="Calibri"/>
              </a:rPr>
              <a:t>Later we plan to add a MuRIL-based classifier, which understands Hindi, Punjabi and Roman-script Hindi [9].</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2"/>
          <p:cNvSpPr txBox="1">
            <a:spLocks noGrp="1"/>
          </p:cNvSpPr>
          <p:nvPr>
            <p:ph type="body" idx="1"/>
          </p:nvPr>
        </p:nvSpPr>
        <p:spPr>
          <a:xfrm>
            <a:off x="548640" y="384048"/>
            <a:ext cx="8229600" cy="292608"/>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accent1"/>
              </a:buClr>
              <a:buSzPts val="1200"/>
              <a:buNone/>
            </a:pPr>
            <a:r>
              <a:rPr lang="en-US" sz="1200" b="1" spc="300">
                <a:solidFill>
                  <a:schemeClr val="accent1"/>
                </a:solidFill>
              </a:rPr>
              <a:t>06  ·  PROPOSED WORKFLOW</a:t>
            </a:r>
            <a:endParaRPr sz="1200"/>
          </a:p>
        </p:txBody>
      </p:sp>
      <p:sp>
        <p:nvSpPr>
          <p:cNvPr id="88" name="Google Shape;88;p12"/>
          <p:cNvSpPr txBox="1">
            <a:spLocks noGrp="1"/>
          </p:cNvSpPr>
          <p:nvPr>
            <p:ph type="title"/>
          </p:nvPr>
        </p:nvSpPr>
        <p:spPr>
          <a:xfrm>
            <a:off x="548640" y="676656"/>
            <a:ext cx="950976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600"/>
              <a:buFont typeface="Cambria"/>
              <a:buNone/>
            </a:pPr>
            <a:r>
              <a:rPr lang="en-US" sz="3600" b="1">
                <a:solidFill>
                  <a:schemeClr val="dk1"/>
                </a:solidFill>
              </a:rPr>
              <a:t>Proposed Workflow</a:t>
            </a:r>
            <a:endParaRPr sz="3600"/>
          </a:p>
        </p:txBody>
      </p:sp>
      <p:sp>
        <p:nvSpPr>
          <p:cNvPr id="89" name="Google Shape;89;p12"/>
          <p:cNvSpPr txBox="1">
            <a:spLocks noGrp="1"/>
          </p:cNvSpPr>
          <p:nvPr>
            <p:ph type="body" idx="2"/>
          </p:nvPr>
        </p:nvSpPr>
        <p:spPr>
          <a:xfrm>
            <a:off x="548640" y="1783080"/>
            <a:ext cx="11064240" cy="2011680"/>
          </a:xfrm>
          <a:prstGeom prst="rect">
            <a:avLst/>
          </a:prstGeom>
          <a:noFill/>
          <a:ln>
            <a:noFill/>
          </a:ln>
        </p:spPr>
        <p:txBody>
          <a:bodyPr spcFirstLastPara="1" wrap="square" lIns="0" tIns="0" rIns="0" bIns="0" anchor="t" anchorCtr="0">
            <a:noAutofit/>
          </a:bodyPr>
          <a:lstStyle/>
          <a:p>
            <a:pPr marL="320040" indent="-320040" algn="l">
              <a:spcBef>
                <a:spcPts val="0"/>
              </a:spcBef>
              <a:buClr>
                <a:schemeClr val="accent1"/>
              </a:buClr>
              <a:buSzPts val="1300"/>
              <a:buFont typeface="Arial"/>
              <a:buChar char="◆"/>
            </a:pPr>
            <a:r>
              <a:rPr lang="en-US" sz="1600" b="1">
                <a:solidFill>
                  <a:schemeClr val="dk1"/>
                </a:solidFill>
              </a:rPr>
              <a:t>Working Mechanism</a:t>
            </a:r>
          </a:p>
          <a:p>
            <a:pPr marL="320040" indent="0" algn="l">
              <a:spcBef>
                <a:spcPts val="150"/>
              </a:spcBef>
              <a:buNone/>
            </a:pPr>
            <a:r>
              <a:rPr lang="en-US" sz="1300">
                <a:solidFill>
                  <a:schemeClr val="dk2"/>
                </a:solidFill>
              </a:rPr>
              <a:t>Microphone audio goes through a voice filter and Whisper large-v3-turbo on the device speech to text. A detector scores five scam steps from the text. At 70 or more, the warning screen and family alert start.</a:t>
            </a:r>
          </a:p>
          <a:p>
            <a:pPr marL="320040" indent="-320040" algn="l">
              <a:spcBef>
                <a:spcPts val="800"/>
              </a:spcBef>
              <a:buClr>
                <a:schemeClr val="accent1"/>
              </a:buClr>
              <a:buSzPts val="1300"/>
              <a:buFont typeface="Arial"/>
              <a:buChar char="◆"/>
            </a:pPr>
            <a:r>
              <a:rPr lang="en-US" sz="1600" b="1">
                <a:solidFill>
                  <a:schemeClr val="dk1"/>
                </a:solidFill>
              </a:rPr>
              <a:t>User Journey</a:t>
            </a:r>
          </a:p>
          <a:p>
            <a:pPr marL="320040" indent="0" algn="l">
              <a:spcBef>
                <a:spcPts val="150"/>
              </a:spcBef>
              <a:buNone/>
            </a:pPr>
            <a:r>
              <a:rPr lang="en-US" sz="1300">
                <a:solidFill>
                  <a:schemeClr val="dk2"/>
                </a:solidFill>
              </a:rPr>
              <a:t>The user switches Nazar on and agrees to listening. A call comes in, and a risk meter and live text appear. At 70 or more the screen turns red, a voice says “Hang up”, and the family gets a Telegram message.</a:t>
            </a:r>
          </a:p>
          <a:p>
            <a:pPr marL="320040" indent="-320040" algn="l">
              <a:spcBef>
                <a:spcPts val="800"/>
              </a:spcBef>
              <a:buClr>
                <a:schemeClr val="accent1"/>
              </a:buClr>
              <a:buSzPts val="1300"/>
              <a:buFont typeface="Arial"/>
              <a:buChar char="◆"/>
            </a:pPr>
            <a:r>
              <a:rPr lang="en-US" sz="1600" b="1">
                <a:solidFill>
                  <a:schemeClr val="dk1"/>
                </a:solidFill>
              </a:rPr>
              <a:t>Process Flow Diagram</a:t>
            </a:r>
          </a:p>
        </p:txBody>
      </p:sp>
      <p:sp>
        <p:nvSpPr>
          <p:cNvPr id="90" name="Google Shape;90;p12"/>
          <p:cNvSpPr txBox="1">
            <a:spLocks noGrp="1"/>
          </p:cNvSpPr>
          <p:nvPr>
            <p:ph type="sldNum" idx="4294967295"/>
          </p:nvPr>
        </p:nvSpPr>
        <p:spPr>
          <a:xfrm>
            <a:off x="11183112" y="6355080"/>
            <a:ext cx="457200" cy="27432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1000" b="0">
                <a:solidFill>
                  <a:schemeClr val="accent4"/>
                </a:solidFill>
                <a:latin typeface="Calibri"/>
                <a:ea typeface="Calibri"/>
                <a:cs typeface="Calibri"/>
                <a:sym typeface="Calibri"/>
              </a:rPr>
              <a:t>7</a:t>
            </a:r>
            <a:endParaRPr sz="1000">
              <a:solidFill>
                <a:schemeClr val="accent4"/>
              </a:solidFill>
              <a:latin typeface="Calibri"/>
              <a:ea typeface="Calibri"/>
              <a:cs typeface="Calibri"/>
              <a:sym typeface="Calibri"/>
            </a:endParaRPr>
          </a:p>
        </p:txBody>
      </p:sp>
      <p:sp>
        <p:nvSpPr>
          <p:cNvPr id="91" name="Rectangle 90"/>
          <p:cNvSpPr/>
          <p:nvPr/>
        </p:nvSpPr>
        <p:spPr>
          <a:xfrm>
            <a:off x="548640" y="4160520"/>
            <a:ext cx="1280160" cy="914400"/>
          </a:xfrm>
          <a:prstGeom prst="rect">
            <a:avLst/>
          </a:prstGeom>
          <a:solidFill>
            <a:srgbClr val="4A3B32"/>
          </a:solidFill>
          <a:ln>
            <a:noFill/>
          </a:ln>
          <a:effectLst/>
        </p:spPr>
        <p:txBody>
          <a:bodyPr wrap="square" tIns="36576" bIns="36576" rtlCol="0" anchor="ctr"/>
          <a:lstStyle/>
          <a:p>
            <a:pPr algn="ctr"/>
            <a:r>
              <a:rPr sz="1300" b="0">
                <a:solidFill>
                  <a:srgbClr val="FFFFFF"/>
                </a:solidFill>
                <a:latin typeface="Calibri"/>
              </a:rPr>
              <a:t>Call starts</a:t>
            </a:r>
          </a:p>
        </p:txBody>
      </p:sp>
      <p:sp>
        <p:nvSpPr>
          <p:cNvPr id="92" name="Rectangle 91"/>
          <p:cNvSpPr/>
          <p:nvPr/>
        </p:nvSpPr>
        <p:spPr>
          <a:xfrm>
            <a:off x="2194560" y="4160520"/>
            <a:ext cx="1645920" cy="914400"/>
          </a:xfrm>
          <a:prstGeom prst="rect">
            <a:avLst/>
          </a:prstGeom>
          <a:solidFill>
            <a:srgbClr val="4A3B32"/>
          </a:solidFill>
          <a:ln>
            <a:noFill/>
          </a:ln>
          <a:effectLst/>
        </p:spPr>
        <p:txBody>
          <a:bodyPr wrap="square" tIns="36576" bIns="36576" rtlCol="0" anchor="ctr"/>
          <a:lstStyle/>
          <a:p>
            <a:pPr algn="ctr"/>
            <a:r>
              <a:rPr sz="1300" b="0">
                <a:solidFill>
                  <a:srgbClr val="FFFFFF"/>
                </a:solidFill>
                <a:latin typeface="Calibri"/>
              </a:rPr>
              <a:t>Listen and turn speech into text</a:t>
            </a:r>
          </a:p>
        </p:txBody>
      </p:sp>
      <p:sp>
        <p:nvSpPr>
          <p:cNvPr id="93" name="Rectangle 92"/>
          <p:cNvSpPr/>
          <p:nvPr/>
        </p:nvSpPr>
        <p:spPr>
          <a:xfrm>
            <a:off x="4206240" y="4160520"/>
            <a:ext cx="1463040" cy="914400"/>
          </a:xfrm>
          <a:prstGeom prst="rect">
            <a:avLst/>
          </a:prstGeom>
          <a:solidFill>
            <a:srgbClr val="4A3B32"/>
          </a:solidFill>
          <a:ln>
            <a:noFill/>
          </a:ln>
          <a:effectLst/>
        </p:spPr>
        <p:txBody>
          <a:bodyPr wrap="square" tIns="36576" bIns="36576" rtlCol="0" anchor="ctr"/>
          <a:lstStyle/>
          <a:p>
            <a:pPr algn="ctr"/>
            <a:r>
              <a:rPr sz="1300" b="0">
                <a:solidFill>
                  <a:srgbClr val="FFFFFF"/>
                </a:solidFill>
                <a:latin typeface="Calibri"/>
              </a:rPr>
              <a:t>Score risk 0 to 100</a:t>
            </a:r>
          </a:p>
        </p:txBody>
      </p:sp>
      <p:cxnSp>
        <p:nvCxnSpPr>
          <p:cNvPr id="94" name="Connector 93"/>
          <p:cNvCxnSpPr/>
          <p:nvPr/>
        </p:nvCxnSpPr>
        <p:spPr>
          <a:xfrm>
            <a:off x="1828800" y="4617720"/>
            <a:ext cx="365760" cy="0"/>
          </a:xfrm>
          <a:prstGeom prst="line">
            <a:avLst/>
          </a:prstGeom>
          <a:ln w="19050">
            <a:solidFill>
              <a:srgbClr val="5B4636"/>
            </a:solidFill>
            <a:tailEnd type="triangle"/>
          </a:ln>
        </p:spPr>
      </p:cxnSp>
      <p:cxnSp>
        <p:nvCxnSpPr>
          <p:cNvPr id="95" name="Connector 94"/>
          <p:cNvCxnSpPr/>
          <p:nvPr/>
        </p:nvCxnSpPr>
        <p:spPr>
          <a:xfrm>
            <a:off x="3840480" y="4617720"/>
            <a:ext cx="365760" cy="0"/>
          </a:xfrm>
          <a:prstGeom prst="line">
            <a:avLst/>
          </a:prstGeom>
          <a:ln w="19050">
            <a:solidFill>
              <a:srgbClr val="5B4636"/>
            </a:solidFill>
            <a:tailEnd type="triangle"/>
          </a:ln>
        </p:spPr>
      </p:cxnSp>
      <p:sp>
        <p:nvSpPr>
          <p:cNvPr id="96" name="Diamond 95"/>
          <p:cNvSpPr/>
          <p:nvPr/>
        </p:nvSpPr>
        <p:spPr>
          <a:xfrm>
            <a:off x="6035040" y="4023359"/>
            <a:ext cx="1554480" cy="1188720"/>
          </a:xfrm>
          <a:prstGeom prst="diamond">
            <a:avLst/>
          </a:prstGeom>
          <a:solidFill>
            <a:srgbClr val="C9962B"/>
          </a:solidFill>
          <a:ln>
            <a:noFill/>
          </a:ln>
          <a:effectLst/>
        </p:spPr>
        <p:txBody>
          <a:bodyPr wrap="square" tIns="36576" bIns="36576" rtlCol="0" anchor="ctr"/>
          <a:lstStyle/>
          <a:p>
            <a:pPr algn="ctr"/>
            <a:r>
              <a:rPr sz="1300" b="1">
                <a:solidFill>
                  <a:srgbClr val="1E1612"/>
                </a:solidFill>
                <a:latin typeface="Calibri"/>
              </a:rPr>
              <a:t>Risk 70 or more?</a:t>
            </a:r>
          </a:p>
        </p:txBody>
      </p:sp>
      <p:cxnSp>
        <p:nvCxnSpPr>
          <p:cNvPr id="97" name="Connector 96"/>
          <p:cNvCxnSpPr/>
          <p:nvPr/>
        </p:nvCxnSpPr>
        <p:spPr>
          <a:xfrm>
            <a:off x="5669280" y="4617720"/>
            <a:ext cx="365760" cy="0"/>
          </a:xfrm>
          <a:prstGeom prst="line">
            <a:avLst/>
          </a:prstGeom>
          <a:ln w="19050">
            <a:solidFill>
              <a:srgbClr val="5B4636"/>
            </a:solidFill>
            <a:tailEnd type="triangle"/>
          </a:ln>
        </p:spPr>
      </p:cxnSp>
      <p:sp>
        <p:nvSpPr>
          <p:cNvPr id="98" name="Rectangle 97"/>
          <p:cNvSpPr/>
          <p:nvPr/>
        </p:nvSpPr>
        <p:spPr>
          <a:xfrm>
            <a:off x="7955279" y="4160520"/>
            <a:ext cx="1645920" cy="914400"/>
          </a:xfrm>
          <a:prstGeom prst="rect">
            <a:avLst/>
          </a:prstGeom>
          <a:solidFill>
            <a:srgbClr val="8B2E16"/>
          </a:solidFill>
          <a:ln>
            <a:noFill/>
          </a:ln>
          <a:effectLst/>
        </p:spPr>
        <p:txBody>
          <a:bodyPr wrap="square" tIns="36576" bIns="36576" rtlCol="0" anchor="ctr"/>
          <a:lstStyle/>
          <a:p>
            <a:pPr algn="ctr"/>
            <a:r>
              <a:rPr sz="1300" b="0">
                <a:solidFill>
                  <a:srgbClr val="FFFFFF"/>
                </a:solidFill>
                <a:latin typeface="Calibri"/>
              </a:rPr>
              <a:t>Warn: red screen and spoken alert</a:t>
            </a:r>
          </a:p>
        </p:txBody>
      </p:sp>
      <p:sp>
        <p:nvSpPr>
          <p:cNvPr id="99" name="Rectangle 98"/>
          <p:cNvSpPr/>
          <p:nvPr/>
        </p:nvSpPr>
        <p:spPr>
          <a:xfrm>
            <a:off x="9966960" y="4160520"/>
            <a:ext cx="1645920" cy="914400"/>
          </a:xfrm>
          <a:prstGeom prst="rect">
            <a:avLst/>
          </a:prstGeom>
          <a:solidFill>
            <a:srgbClr val="8B2E16"/>
          </a:solidFill>
          <a:ln>
            <a:noFill/>
          </a:ln>
          <a:effectLst/>
        </p:spPr>
        <p:txBody>
          <a:bodyPr wrap="square" tIns="36576" bIns="36576" rtlCol="0" anchor="ctr"/>
          <a:lstStyle/>
          <a:p>
            <a:pPr algn="ctr"/>
            <a:r>
              <a:rPr sz="1300" b="0">
                <a:solidFill>
                  <a:srgbClr val="FFFFFF"/>
                </a:solidFill>
                <a:latin typeface="Calibri"/>
              </a:rPr>
              <a:t>Alert family on Telegram</a:t>
            </a:r>
          </a:p>
        </p:txBody>
      </p:sp>
      <p:cxnSp>
        <p:nvCxnSpPr>
          <p:cNvPr id="100" name="Connector 99"/>
          <p:cNvCxnSpPr/>
          <p:nvPr/>
        </p:nvCxnSpPr>
        <p:spPr>
          <a:xfrm>
            <a:off x="7589520" y="4617720"/>
            <a:ext cx="365759" cy="0"/>
          </a:xfrm>
          <a:prstGeom prst="line">
            <a:avLst/>
          </a:prstGeom>
          <a:ln w="19050">
            <a:solidFill>
              <a:srgbClr val="5B4636"/>
            </a:solidFill>
            <a:tailEnd type="triangle"/>
          </a:ln>
        </p:spPr>
      </p:cxnSp>
      <p:cxnSp>
        <p:nvCxnSpPr>
          <p:cNvPr id="101" name="Connector 100"/>
          <p:cNvCxnSpPr/>
          <p:nvPr/>
        </p:nvCxnSpPr>
        <p:spPr>
          <a:xfrm>
            <a:off x="9601200" y="4617720"/>
            <a:ext cx="365760" cy="0"/>
          </a:xfrm>
          <a:prstGeom prst="line">
            <a:avLst/>
          </a:prstGeom>
          <a:ln w="19050">
            <a:solidFill>
              <a:srgbClr val="5B4636"/>
            </a:solidFill>
            <a:tailEnd type="triangle"/>
          </a:ln>
        </p:spPr>
      </p:cxnSp>
      <p:sp>
        <p:nvSpPr>
          <p:cNvPr id="102" name="TextBox 101"/>
          <p:cNvSpPr txBox="1"/>
          <p:nvPr/>
        </p:nvSpPr>
        <p:spPr>
          <a:xfrm>
            <a:off x="7616952" y="4343400"/>
            <a:ext cx="365760" cy="228600"/>
          </a:xfrm>
          <a:prstGeom prst="rect">
            <a:avLst/>
          </a:prstGeom>
          <a:noFill/>
        </p:spPr>
        <p:txBody>
          <a:bodyPr wrap="square" lIns="0" tIns="0" rIns="0" bIns="0">
            <a:spAutoFit/>
          </a:bodyPr>
          <a:lstStyle/>
          <a:p>
            <a:pPr algn="l"/>
            <a:r>
              <a:rPr sz="1100" b="1" i="0">
                <a:solidFill>
                  <a:srgbClr val="8B2E16"/>
                </a:solidFill>
                <a:latin typeface="Calibri"/>
              </a:rPr>
              <a:t>Yes</a:t>
            </a:r>
          </a:p>
        </p:txBody>
      </p:sp>
      <p:cxnSp>
        <p:nvCxnSpPr>
          <p:cNvPr id="103" name="Connector 102"/>
          <p:cNvCxnSpPr/>
          <p:nvPr/>
        </p:nvCxnSpPr>
        <p:spPr>
          <a:xfrm>
            <a:off x="6812280" y="5212079"/>
            <a:ext cx="0" cy="320041"/>
          </a:xfrm>
          <a:prstGeom prst="line">
            <a:avLst/>
          </a:prstGeom>
          <a:ln w="19050">
            <a:solidFill>
              <a:srgbClr val="5B4636"/>
            </a:solidFill>
          </a:ln>
        </p:spPr>
      </p:cxnSp>
      <p:cxnSp>
        <p:nvCxnSpPr>
          <p:cNvPr id="104" name="Connector 103"/>
          <p:cNvCxnSpPr/>
          <p:nvPr/>
        </p:nvCxnSpPr>
        <p:spPr>
          <a:xfrm flipH="1">
            <a:off x="3017520" y="5532120"/>
            <a:ext cx="3794760" cy="0"/>
          </a:xfrm>
          <a:prstGeom prst="line">
            <a:avLst/>
          </a:prstGeom>
          <a:ln w="19050">
            <a:solidFill>
              <a:srgbClr val="5B4636"/>
            </a:solidFill>
          </a:ln>
        </p:spPr>
      </p:cxnSp>
      <p:cxnSp>
        <p:nvCxnSpPr>
          <p:cNvPr id="105" name="Connector 104"/>
          <p:cNvCxnSpPr/>
          <p:nvPr/>
        </p:nvCxnSpPr>
        <p:spPr>
          <a:xfrm flipV="1">
            <a:off x="3017520" y="5074920"/>
            <a:ext cx="0" cy="457200"/>
          </a:xfrm>
          <a:prstGeom prst="line">
            <a:avLst/>
          </a:prstGeom>
          <a:ln w="19050">
            <a:solidFill>
              <a:srgbClr val="5B4636"/>
            </a:solidFill>
            <a:tailEnd type="triangle"/>
          </a:ln>
        </p:spPr>
      </p:cxnSp>
      <p:sp>
        <p:nvSpPr>
          <p:cNvPr id="106" name="TextBox 105"/>
          <p:cNvSpPr txBox="1"/>
          <p:nvPr/>
        </p:nvSpPr>
        <p:spPr>
          <a:xfrm>
            <a:off x="3840480" y="5605272"/>
            <a:ext cx="2743200" cy="256032"/>
          </a:xfrm>
          <a:prstGeom prst="rect">
            <a:avLst/>
          </a:prstGeom>
          <a:noFill/>
        </p:spPr>
        <p:txBody>
          <a:bodyPr wrap="square" lIns="0" tIns="0" rIns="0" bIns="0">
            <a:spAutoFit/>
          </a:bodyPr>
          <a:lstStyle/>
          <a:p>
            <a:pPr algn="l"/>
            <a:r>
              <a:rPr sz="1100" b="1" i="0">
                <a:solidFill>
                  <a:srgbClr val="5B4636"/>
                </a:solidFill>
                <a:latin typeface="Calibri"/>
              </a:rPr>
              <a:t>No: keep listening</a:t>
            </a:r>
          </a:p>
        </p:txBody>
      </p:sp>
      <p:sp>
        <p:nvSpPr>
          <p:cNvPr id="107" name="TextBox 106"/>
          <p:cNvSpPr txBox="1"/>
          <p:nvPr/>
        </p:nvSpPr>
        <p:spPr>
          <a:xfrm>
            <a:off x="548640" y="6053328"/>
            <a:ext cx="11064240" cy="274320"/>
          </a:xfrm>
          <a:prstGeom prst="rect">
            <a:avLst/>
          </a:prstGeom>
          <a:noFill/>
        </p:spPr>
        <p:txBody>
          <a:bodyPr wrap="square" lIns="0" tIns="0" rIns="0" bIns="0">
            <a:spAutoFit/>
          </a:bodyPr>
          <a:lstStyle/>
          <a:p>
            <a:pPr algn="l"/>
            <a:r>
              <a:rPr sz="1000" b="0" i="0">
                <a:solidFill>
                  <a:srgbClr val="5B4636"/>
                </a:solidFill>
                <a:latin typeface="Calibri"/>
              </a:rPr>
              <a:t>Warning threshold of 70 is a starting value that we tune on test calls. Speech to text: Whisper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3"/>
          <p:cNvSpPr txBox="1">
            <a:spLocks noGrp="1"/>
          </p:cNvSpPr>
          <p:nvPr>
            <p:ph type="body" idx="1"/>
          </p:nvPr>
        </p:nvSpPr>
        <p:spPr>
          <a:xfrm>
            <a:off x="548640" y="384048"/>
            <a:ext cx="8229600" cy="292608"/>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accent1"/>
              </a:buClr>
              <a:buSzPts val="1200"/>
              <a:buNone/>
            </a:pPr>
            <a:r>
              <a:rPr lang="en-US" sz="1200" b="1" spc="300">
                <a:solidFill>
                  <a:schemeClr val="accent1"/>
                </a:solidFill>
              </a:rPr>
              <a:t>07  ·  PROPOSED TECH STACK</a:t>
            </a:r>
            <a:endParaRPr sz="1200"/>
          </a:p>
        </p:txBody>
      </p:sp>
      <p:sp>
        <p:nvSpPr>
          <p:cNvPr id="97" name="Google Shape;97;p13"/>
          <p:cNvSpPr txBox="1">
            <a:spLocks noGrp="1"/>
          </p:cNvSpPr>
          <p:nvPr>
            <p:ph type="title"/>
          </p:nvPr>
        </p:nvSpPr>
        <p:spPr>
          <a:xfrm>
            <a:off x="548640" y="676656"/>
            <a:ext cx="950976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600"/>
              <a:buFont typeface="Cambria"/>
              <a:buNone/>
            </a:pPr>
            <a:r>
              <a:rPr lang="en-US" sz="3600" b="1">
                <a:solidFill>
                  <a:schemeClr val="dk1"/>
                </a:solidFill>
              </a:rPr>
              <a:t>Proposed Tech Stack</a:t>
            </a:r>
            <a:endParaRPr sz="3600"/>
          </a:p>
        </p:txBody>
      </p:sp>
      <p:sp>
        <p:nvSpPr>
          <p:cNvPr id="99" name="Google Shape;99;p13"/>
          <p:cNvSpPr txBox="1">
            <a:spLocks noGrp="1"/>
          </p:cNvSpPr>
          <p:nvPr>
            <p:ph type="sldNum" idx="4294967295"/>
          </p:nvPr>
        </p:nvSpPr>
        <p:spPr>
          <a:xfrm>
            <a:off x="11183112" y="6355080"/>
            <a:ext cx="457200" cy="27432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1000" b="0">
                <a:solidFill>
                  <a:schemeClr val="accent4"/>
                </a:solidFill>
                <a:latin typeface="Calibri"/>
                <a:ea typeface="Calibri"/>
                <a:cs typeface="Calibri"/>
                <a:sym typeface="Calibri"/>
              </a:rPr>
              <a:t>8</a:t>
            </a:r>
            <a:endParaRPr sz="1000">
              <a:solidFill>
                <a:schemeClr val="accent4"/>
              </a:solidFill>
              <a:latin typeface="Calibri"/>
              <a:ea typeface="Calibri"/>
              <a:cs typeface="Calibri"/>
              <a:sym typeface="Calibri"/>
            </a:endParaRPr>
          </a:p>
        </p:txBody>
      </p:sp>
      <p:graphicFrame>
        <p:nvGraphicFramePr>
          <p:cNvPr id="100" name="Table 99"/>
          <p:cNvGraphicFramePr>
            <a:graphicFrameLocks noGrp="1"/>
          </p:cNvGraphicFramePr>
          <p:nvPr>
            <p:extLst>
              <p:ext uri="{D42A27DB-BD31-4B8C-83A1-F6EECF244321}">
                <p14:modId xmlns:p14="http://schemas.microsoft.com/office/powerpoint/2010/main" val="1946142267"/>
              </p:ext>
            </p:extLst>
          </p:nvPr>
        </p:nvGraphicFramePr>
        <p:xfrm>
          <a:off x="548640" y="1737360"/>
          <a:ext cx="11064240" cy="3621024"/>
        </p:xfrm>
        <a:graphic>
          <a:graphicData uri="http://schemas.openxmlformats.org/drawingml/2006/table">
            <a:tbl>
              <a:tblPr>
                <a:tableStyleId>{2D5ABB26-0587-4C30-8999-92F81FD0307C}</a:tableStyleId>
              </a:tblPr>
              <a:tblGrid>
                <a:gridCol w="237744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603504">
                <a:tc>
                  <a:txBody>
                    <a:bodyPr/>
                    <a:lstStyle/>
                    <a:p>
                      <a:r>
                        <a:rPr sz="1400" b="1">
                          <a:solidFill>
                            <a:srgbClr val="FFFFFF"/>
                          </a:solidFill>
                          <a:latin typeface="Calibri"/>
                        </a:rPr>
                        <a:t>Layer</a:t>
                      </a:r>
                    </a:p>
                  </a:txBody>
                  <a:tcPr marT="27432" marB="27432" anchor="ctr">
                    <a:lnL w="9525">
                      <a:solidFill>
                        <a:srgbClr val="E5D3BE"/>
                      </a:solidFill>
                    </a:lnL>
                    <a:lnR w="9525">
                      <a:solidFill>
                        <a:srgbClr val="E5D3BE"/>
                      </a:solidFill>
                    </a:lnR>
                    <a:lnT w="9525">
                      <a:solidFill>
                        <a:srgbClr val="E5D3BE"/>
                      </a:solidFill>
                    </a:lnT>
                    <a:lnB w="9525">
                      <a:solidFill>
                        <a:srgbClr val="E5D3BE"/>
                      </a:solidFill>
                    </a:lnB>
                    <a:solidFill>
                      <a:srgbClr val="4A3B32"/>
                    </a:solidFill>
                  </a:tcPr>
                </a:tc>
                <a:tc>
                  <a:txBody>
                    <a:bodyPr/>
                    <a:lstStyle/>
                    <a:p>
                      <a:r>
                        <a:rPr lang="en-US" sz="1400" b="1">
                          <a:solidFill>
                            <a:srgbClr val="FFFFFF"/>
                          </a:solidFill>
                          <a:latin typeface="Calibri"/>
                        </a:rPr>
                        <a:t>Prototype today, and what we will use in the final</a:t>
                      </a:r>
                      <a:endParaRPr sz="1400" b="1">
                        <a:solidFill>
                          <a:srgbClr val="FFFFFF"/>
                        </a:solidFill>
                        <a:latin typeface="Calibri"/>
                      </a:endParaRPr>
                    </a:p>
                  </a:txBody>
                  <a:tcPr marT="27432" marB="27432" anchor="ctr">
                    <a:lnL w="9525">
                      <a:solidFill>
                        <a:srgbClr val="E5D3BE"/>
                      </a:solidFill>
                    </a:lnL>
                    <a:lnR w="9525">
                      <a:solidFill>
                        <a:srgbClr val="E5D3BE"/>
                      </a:solidFill>
                    </a:lnR>
                    <a:lnT w="9525">
                      <a:solidFill>
                        <a:srgbClr val="E5D3BE"/>
                      </a:solidFill>
                    </a:lnT>
                    <a:lnB w="9525">
                      <a:solidFill>
                        <a:srgbClr val="E5D3BE"/>
                      </a:solidFill>
                    </a:lnB>
                    <a:solidFill>
                      <a:srgbClr val="4A3B32"/>
                    </a:solidFill>
                  </a:tcPr>
                </a:tc>
                <a:extLst>
                  <a:ext uri="{0D108BD9-81ED-4DB2-BD59-A6C34878D82A}">
                    <a16:rowId xmlns:a16="http://schemas.microsoft.com/office/drawing/2014/main" val="10000"/>
                  </a:ext>
                </a:extLst>
              </a:tr>
              <a:tr h="603504">
                <a:tc>
                  <a:txBody>
                    <a:bodyPr/>
                    <a:lstStyle/>
                    <a:p>
                      <a:r>
                        <a:rPr sz="1400" b="1">
                          <a:solidFill>
                            <a:srgbClr val="1E1612"/>
                          </a:solidFill>
                          <a:latin typeface="Calibri"/>
                        </a:rPr>
                        <a:t>Frontend</a:t>
                      </a:r>
                    </a:p>
                  </a:txBody>
                  <a:tcPr marT="27432" marB="27432" anchor="ctr">
                    <a:lnL w="9525">
                      <a:solidFill>
                        <a:srgbClr val="E5D3BE"/>
                      </a:solidFill>
                    </a:lnL>
                    <a:lnR w="9525">
                      <a:solidFill>
                        <a:srgbClr val="E5D3BE"/>
                      </a:solidFill>
                    </a:lnR>
                    <a:lnT w="9525">
                      <a:solidFill>
                        <a:srgbClr val="E5D3BE"/>
                      </a:solidFill>
                    </a:lnT>
                    <a:lnB w="9525">
                      <a:solidFill>
                        <a:srgbClr val="E5D3BE"/>
                      </a:solidFill>
                    </a:lnB>
                    <a:solidFill>
                      <a:srgbClr val="FFF4E8"/>
                    </a:solidFill>
                  </a:tcPr>
                </a:tc>
                <a:tc>
                  <a:txBody>
                    <a:bodyPr/>
                    <a:lstStyle/>
                    <a:p>
                      <a:r>
                        <a:rPr lang="en-US" sz="1400" b="0">
                          <a:solidFill>
                            <a:srgbClr val="1E1612"/>
                          </a:solidFill>
                          <a:latin typeface="Calibri"/>
                        </a:rPr>
                        <a:t>Live now: HTML, CSS and JavaScript on Vercel, with the browser's speech recognition and speech output. Final: React, TypeScript and Tailwind.</a:t>
                      </a:r>
                      <a:endParaRPr sz="1400" b="0">
                        <a:solidFill>
                          <a:srgbClr val="1E1612"/>
                        </a:solidFill>
                        <a:latin typeface="Calibri"/>
                      </a:endParaRPr>
                    </a:p>
                  </a:txBody>
                  <a:tcPr marT="27432" marB="27432" anchor="ctr">
                    <a:lnL w="9525">
                      <a:solidFill>
                        <a:srgbClr val="E5D3BE"/>
                      </a:solidFill>
                    </a:lnL>
                    <a:lnR w="9525">
                      <a:solidFill>
                        <a:srgbClr val="E5D3BE"/>
                      </a:solidFill>
                    </a:lnR>
                    <a:lnT w="9525">
                      <a:solidFill>
                        <a:srgbClr val="E5D3BE"/>
                      </a:solidFill>
                    </a:lnT>
                    <a:lnB w="9525">
                      <a:solidFill>
                        <a:srgbClr val="E5D3BE"/>
                      </a:solidFill>
                    </a:lnB>
                    <a:solidFill>
                      <a:srgbClr val="FFF4E8"/>
                    </a:solidFill>
                  </a:tcPr>
                </a:tc>
                <a:extLst>
                  <a:ext uri="{0D108BD9-81ED-4DB2-BD59-A6C34878D82A}">
                    <a16:rowId xmlns:a16="http://schemas.microsoft.com/office/drawing/2014/main" val="10001"/>
                  </a:ext>
                </a:extLst>
              </a:tr>
              <a:tr h="603504">
                <a:tc>
                  <a:txBody>
                    <a:bodyPr/>
                    <a:lstStyle/>
                    <a:p>
                      <a:r>
                        <a:rPr sz="1400" b="1">
                          <a:solidFill>
                            <a:srgbClr val="1E1612"/>
                          </a:solidFill>
                          <a:latin typeface="Calibri"/>
                        </a:rPr>
                        <a:t>Backend</a:t>
                      </a:r>
                    </a:p>
                  </a:txBody>
                  <a:tcPr marT="27432" marB="27432" anchor="ctr">
                    <a:lnL w="9525">
                      <a:solidFill>
                        <a:srgbClr val="E5D3BE"/>
                      </a:solidFill>
                    </a:lnL>
                    <a:lnR w="9525">
                      <a:solidFill>
                        <a:srgbClr val="E5D3BE"/>
                      </a:solidFill>
                    </a:lnR>
                    <a:lnT w="9525">
                      <a:solidFill>
                        <a:srgbClr val="E5D3BE"/>
                      </a:solidFill>
                    </a:lnT>
                    <a:lnB w="9525">
                      <a:solidFill>
                        <a:srgbClr val="E5D3BE"/>
                      </a:solidFill>
                    </a:lnB>
                    <a:solidFill>
                      <a:srgbClr val="FFFFFF"/>
                    </a:solidFill>
                  </a:tcPr>
                </a:tc>
                <a:tc>
                  <a:txBody>
                    <a:bodyPr/>
                    <a:lstStyle/>
                    <a:p>
                      <a:r>
                        <a:rPr lang="en-US" sz="1400" b="0">
                          <a:solidFill>
                            <a:srgbClr val="1E1612"/>
                          </a:solidFill>
                          <a:latin typeface="Calibri"/>
                        </a:rPr>
                        <a:t>Live now: none, all scoring runs in the browser. Final: Python and FastAPI with WebSockets for live audio and live results [12], on the user's own laptop.</a:t>
                      </a:r>
                      <a:endParaRPr sz="1400" b="0">
                        <a:solidFill>
                          <a:srgbClr val="1E1612"/>
                        </a:solidFill>
                        <a:latin typeface="Calibri"/>
                      </a:endParaRPr>
                    </a:p>
                  </a:txBody>
                  <a:tcPr marT="27432" marB="27432" anchor="ctr">
                    <a:lnL w="9525">
                      <a:solidFill>
                        <a:srgbClr val="E5D3BE"/>
                      </a:solidFill>
                    </a:lnL>
                    <a:lnR w="9525">
                      <a:solidFill>
                        <a:srgbClr val="E5D3BE"/>
                      </a:solidFill>
                    </a:lnR>
                    <a:lnT w="9525">
                      <a:solidFill>
                        <a:srgbClr val="E5D3BE"/>
                      </a:solidFill>
                    </a:lnT>
                    <a:lnB w="9525">
                      <a:solidFill>
                        <a:srgbClr val="E5D3BE"/>
                      </a:solidFill>
                    </a:lnB>
                    <a:solidFill>
                      <a:srgbClr val="FFFFFF"/>
                    </a:solidFill>
                  </a:tcPr>
                </a:tc>
                <a:extLst>
                  <a:ext uri="{0D108BD9-81ED-4DB2-BD59-A6C34878D82A}">
                    <a16:rowId xmlns:a16="http://schemas.microsoft.com/office/drawing/2014/main" val="10002"/>
                  </a:ext>
                </a:extLst>
              </a:tr>
              <a:tr h="603504">
                <a:tc>
                  <a:txBody>
                    <a:bodyPr/>
                    <a:lstStyle/>
                    <a:p>
                      <a:r>
                        <a:rPr sz="1400" b="1">
                          <a:solidFill>
                            <a:srgbClr val="1E1612"/>
                          </a:solidFill>
                          <a:latin typeface="Calibri"/>
                        </a:rPr>
                        <a:t>Database</a:t>
                      </a:r>
                    </a:p>
                  </a:txBody>
                  <a:tcPr marT="27432" marB="27432" anchor="ctr">
                    <a:lnL w="9525">
                      <a:solidFill>
                        <a:srgbClr val="E5D3BE"/>
                      </a:solidFill>
                    </a:lnL>
                    <a:lnR w="9525">
                      <a:solidFill>
                        <a:srgbClr val="E5D3BE"/>
                      </a:solidFill>
                    </a:lnR>
                    <a:lnT w="9525">
                      <a:solidFill>
                        <a:srgbClr val="E5D3BE"/>
                      </a:solidFill>
                    </a:lnT>
                    <a:lnB w="9525">
                      <a:solidFill>
                        <a:srgbClr val="E5D3BE"/>
                      </a:solidFill>
                    </a:lnB>
                    <a:solidFill>
                      <a:srgbClr val="FFF4E8"/>
                    </a:solidFill>
                  </a:tcPr>
                </a:tc>
                <a:tc>
                  <a:txBody>
                    <a:bodyPr/>
                    <a:lstStyle/>
                    <a:p>
                      <a:r>
                        <a:rPr sz="1400" b="0">
                          <a:solidFill>
                            <a:srgbClr val="1E1612"/>
                          </a:solidFill>
                          <a:latin typeface="Calibri"/>
                        </a:rPr>
                        <a:t>None in the prototype, by design: session data stays in memory and is cleared when the call ends. Optional PostgreSQL later, for anonymised pilot statistics.</a:t>
                      </a:r>
                    </a:p>
                  </a:txBody>
                  <a:tcPr marT="27432" marB="27432" anchor="ctr">
                    <a:lnL w="9525">
                      <a:solidFill>
                        <a:srgbClr val="E5D3BE"/>
                      </a:solidFill>
                    </a:lnL>
                    <a:lnR w="9525">
                      <a:solidFill>
                        <a:srgbClr val="E5D3BE"/>
                      </a:solidFill>
                    </a:lnR>
                    <a:lnT w="9525">
                      <a:solidFill>
                        <a:srgbClr val="E5D3BE"/>
                      </a:solidFill>
                    </a:lnT>
                    <a:lnB w="9525">
                      <a:solidFill>
                        <a:srgbClr val="E5D3BE"/>
                      </a:solidFill>
                    </a:lnB>
                    <a:solidFill>
                      <a:srgbClr val="FFF4E8"/>
                    </a:solidFill>
                  </a:tcPr>
                </a:tc>
                <a:extLst>
                  <a:ext uri="{0D108BD9-81ED-4DB2-BD59-A6C34878D82A}">
                    <a16:rowId xmlns:a16="http://schemas.microsoft.com/office/drawing/2014/main" val="10003"/>
                  </a:ext>
                </a:extLst>
              </a:tr>
              <a:tr h="603504">
                <a:tc>
                  <a:txBody>
                    <a:bodyPr/>
                    <a:lstStyle/>
                    <a:p>
                      <a:r>
                        <a:rPr sz="1400" b="1">
                          <a:solidFill>
                            <a:srgbClr val="1E1612"/>
                          </a:solidFill>
                          <a:latin typeface="Calibri"/>
                        </a:rPr>
                        <a:t>AI/ML Tools</a:t>
                      </a:r>
                    </a:p>
                  </a:txBody>
                  <a:tcPr marT="27432" marB="27432" anchor="ctr">
                    <a:lnL w="9525">
                      <a:solidFill>
                        <a:srgbClr val="E5D3BE"/>
                      </a:solidFill>
                    </a:lnL>
                    <a:lnR w="9525">
                      <a:solidFill>
                        <a:srgbClr val="E5D3BE"/>
                      </a:solidFill>
                    </a:lnR>
                    <a:lnT w="9525">
                      <a:solidFill>
                        <a:srgbClr val="E5D3BE"/>
                      </a:solidFill>
                    </a:lnT>
                    <a:lnB w="9525">
                      <a:solidFill>
                        <a:srgbClr val="E5D3BE"/>
                      </a:solidFill>
                    </a:lnB>
                    <a:solidFill>
                      <a:srgbClr val="FFFFFF"/>
                    </a:solidFill>
                  </a:tcPr>
                </a:tc>
                <a:tc>
                  <a:txBody>
                    <a:bodyPr/>
                    <a:lstStyle/>
                    <a:p>
                      <a:r>
                        <a:rPr sz="1400" b="0">
                          <a:solidFill>
                            <a:srgbClr val="1E1612"/>
                          </a:solidFill>
                          <a:latin typeface="Calibri"/>
                        </a:rPr>
                        <a:t>Whisper-small for Hindi and Punjabi speech to text [7]; </a:t>
                      </a:r>
                      <a:r>
                        <a:rPr lang="en-US" sz="1400" b="0">
                          <a:solidFill>
                            <a:srgbClr val="1E1612"/>
                          </a:solidFill>
                          <a:latin typeface="Calibri"/>
                        </a:rPr>
                        <a:t>Vosk Hindi models as an alternative under evaluation, not in the prototype [8]</a:t>
                      </a:r>
                      <a:r>
                        <a:rPr sz="1400" b="0">
                          <a:solidFill>
                            <a:srgbClr val="1E1612"/>
                          </a:solidFill>
                          <a:latin typeface="Calibri"/>
                        </a:rPr>
                        <a:t>; word lists with a scoring rule; MuRIL classifier planned [9].</a:t>
                      </a:r>
                    </a:p>
                  </a:txBody>
                  <a:tcPr marT="27432" marB="27432" anchor="ctr">
                    <a:lnL w="9525">
                      <a:solidFill>
                        <a:srgbClr val="E5D3BE"/>
                      </a:solidFill>
                    </a:lnL>
                    <a:lnR w="9525">
                      <a:solidFill>
                        <a:srgbClr val="E5D3BE"/>
                      </a:solidFill>
                    </a:lnR>
                    <a:lnT w="9525">
                      <a:solidFill>
                        <a:srgbClr val="E5D3BE"/>
                      </a:solidFill>
                    </a:lnT>
                    <a:lnB w="9525">
                      <a:solidFill>
                        <a:srgbClr val="E5D3BE"/>
                      </a:solidFill>
                    </a:lnB>
                    <a:solidFill>
                      <a:srgbClr val="FFFFFF"/>
                    </a:solidFill>
                  </a:tcPr>
                </a:tc>
                <a:extLst>
                  <a:ext uri="{0D108BD9-81ED-4DB2-BD59-A6C34878D82A}">
                    <a16:rowId xmlns:a16="http://schemas.microsoft.com/office/drawing/2014/main" val="10004"/>
                  </a:ext>
                </a:extLst>
              </a:tr>
              <a:tr h="603504">
                <a:tc>
                  <a:txBody>
                    <a:bodyPr/>
                    <a:lstStyle/>
                    <a:p>
                      <a:r>
                        <a:rPr sz="1400" b="1">
                          <a:solidFill>
                            <a:srgbClr val="1E1612"/>
                          </a:solidFill>
                          <a:latin typeface="Calibri"/>
                        </a:rPr>
                        <a:t>APIs and Frameworks</a:t>
                      </a:r>
                    </a:p>
                  </a:txBody>
                  <a:tcPr marT="27432" marB="27432" anchor="ctr">
                    <a:lnL w="9525">
                      <a:solidFill>
                        <a:srgbClr val="E5D3BE"/>
                      </a:solidFill>
                    </a:lnL>
                    <a:lnR w="9525">
                      <a:solidFill>
                        <a:srgbClr val="E5D3BE"/>
                      </a:solidFill>
                    </a:lnR>
                    <a:lnT w="9525">
                      <a:solidFill>
                        <a:srgbClr val="E5D3BE"/>
                      </a:solidFill>
                    </a:lnT>
                    <a:lnB w="9525">
                      <a:solidFill>
                        <a:srgbClr val="E5D3BE"/>
                      </a:solidFill>
                    </a:lnB>
                    <a:solidFill>
                      <a:srgbClr val="FFF4E8"/>
                    </a:solidFill>
                  </a:tcPr>
                </a:tc>
                <a:tc>
                  <a:txBody>
                    <a:bodyPr/>
                    <a:lstStyle/>
                    <a:p>
                      <a:r>
                        <a:rPr lang="en-US" sz="1400" b="0">
                          <a:solidFill>
                            <a:srgbClr val="1E1612"/>
                          </a:solidFill>
                          <a:latin typeface="Calibri"/>
                        </a:rPr>
                        <a:t>Telegram Bot API for family alerts, working in the prototype [13]; WhatsApp click-to-chat link; pydantic and pytest for data checks and tests.</a:t>
                      </a:r>
                      <a:endParaRPr sz="1400" b="0">
                        <a:solidFill>
                          <a:srgbClr val="1E1612"/>
                        </a:solidFill>
                        <a:latin typeface="Calibri"/>
                      </a:endParaRPr>
                    </a:p>
                  </a:txBody>
                  <a:tcPr marT="27432" marB="27432" anchor="ctr">
                    <a:lnL w="9525">
                      <a:solidFill>
                        <a:srgbClr val="E5D3BE"/>
                      </a:solidFill>
                    </a:lnL>
                    <a:lnR w="9525">
                      <a:solidFill>
                        <a:srgbClr val="E5D3BE"/>
                      </a:solidFill>
                    </a:lnR>
                    <a:lnT w="9525">
                      <a:solidFill>
                        <a:srgbClr val="E5D3BE"/>
                      </a:solidFill>
                    </a:lnT>
                    <a:lnB w="9525">
                      <a:solidFill>
                        <a:srgbClr val="E5D3BE"/>
                      </a:solidFill>
                    </a:lnB>
                    <a:solidFill>
                      <a:srgbClr val="FFF4E8"/>
                    </a:solidFill>
                  </a:tcPr>
                </a:tc>
                <a:extLst>
                  <a:ext uri="{0D108BD9-81ED-4DB2-BD59-A6C34878D82A}">
                    <a16:rowId xmlns:a16="http://schemas.microsoft.com/office/drawing/2014/main" val="10005"/>
                  </a:ext>
                </a:extLst>
              </a:tr>
            </a:tbl>
          </a:graphicData>
        </a:graphic>
      </p:graphicFrame>
      <p:sp>
        <p:nvSpPr>
          <p:cNvPr id="101" name="Rectangle 100"/>
          <p:cNvSpPr/>
          <p:nvPr/>
        </p:nvSpPr>
        <p:spPr>
          <a:xfrm>
            <a:off x="548640" y="5577840"/>
            <a:ext cx="11064240" cy="384048"/>
          </a:xfrm>
          <a:prstGeom prst="rect">
            <a:avLst/>
          </a:prstGeom>
          <a:solidFill>
            <a:srgbClr val="C9962B"/>
          </a:solidFill>
          <a:ln>
            <a:noFill/>
          </a:ln>
          <a:effectLst/>
        </p:spPr>
        <p:txBody>
          <a:bodyPr wrap="square" tIns="36576" bIns="36576" rtlCol="0" anchor="ctr"/>
          <a:lstStyle/>
          <a:p>
            <a:pPr algn="l"/>
            <a:r>
              <a:rPr sz="1300" b="1">
                <a:solidFill>
                  <a:srgbClr val="1E1612"/>
                </a:solidFill>
                <a:latin typeface="Calibri"/>
              </a:rPr>
              <a:t>Low cost to build and pilot: </a:t>
            </a:r>
            <a:r>
              <a:rPr sz="1300" b="0">
                <a:solidFill>
                  <a:srgbClr val="1E1612"/>
                </a:solidFill>
                <a:latin typeface="Calibri"/>
              </a:rPr>
              <a:t>every tool is free or open source and runs on a normal laptop.</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4"/>
          <p:cNvSpPr txBox="1">
            <a:spLocks noGrp="1"/>
          </p:cNvSpPr>
          <p:nvPr>
            <p:ph type="body" idx="1"/>
          </p:nvPr>
        </p:nvSpPr>
        <p:spPr>
          <a:xfrm>
            <a:off x="548640" y="384048"/>
            <a:ext cx="8229600" cy="292608"/>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accent1"/>
              </a:buClr>
              <a:buSzPts val="1200"/>
              <a:buNone/>
            </a:pPr>
            <a:r>
              <a:rPr lang="en-US" sz="1200" b="1" spc="300">
                <a:solidFill>
                  <a:schemeClr val="accent1"/>
                </a:solidFill>
              </a:rPr>
              <a:t>08  ·  FEASIBILITY &amp; EXECUTION PLAN</a:t>
            </a:r>
            <a:endParaRPr sz="1200"/>
          </a:p>
        </p:txBody>
      </p:sp>
      <p:sp>
        <p:nvSpPr>
          <p:cNvPr id="106" name="Google Shape;106;p14"/>
          <p:cNvSpPr txBox="1">
            <a:spLocks noGrp="1"/>
          </p:cNvSpPr>
          <p:nvPr>
            <p:ph type="title"/>
          </p:nvPr>
        </p:nvSpPr>
        <p:spPr>
          <a:xfrm>
            <a:off x="548640" y="676656"/>
            <a:ext cx="950976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600"/>
              <a:buFont typeface="Cambria"/>
              <a:buNone/>
            </a:pPr>
            <a:r>
              <a:rPr lang="en-US" sz="3600" b="1">
                <a:solidFill>
                  <a:schemeClr val="dk1"/>
                </a:solidFill>
              </a:rPr>
              <a:t>Feasibility &amp; Execution Plan</a:t>
            </a:r>
            <a:endParaRPr sz="3600"/>
          </a:p>
        </p:txBody>
      </p:sp>
      <p:sp>
        <p:nvSpPr>
          <p:cNvPr id="107" name="Google Shape;107;p14"/>
          <p:cNvSpPr txBox="1">
            <a:spLocks noGrp="1"/>
          </p:cNvSpPr>
          <p:nvPr>
            <p:ph type="body" idx="2"/>
          </p:nvPr>
        </p:nvSpPr>
        <p:spPr>
          <a:xfrm>
            <a:off x="548640" y="1783080"/>
            <a:ext cx="6766560" cy="4160520"/>
          </a:xfrm>
          <a:prstGeom prst="rect">
            <a:avLst/>
          </a:prstGeom>
          <a:noFill/>
          <a:ln>
            <a:noFill/>
          </a:ln>
        </p:spPr>
        <p:txBody>
          <a:bodyPr spcFirstLastPara="1" wrap="square" lIns="0" tIns="0" rIns="0" bIns="0" anchor="t" anchorCtr="0">
            <a:noAutofit/>
          </a:bodyPr>
          <a:lstStyle/>
          <a:p>
            <a:pPr marL="320040" indent="-320040" algn="l">
              <a:spcBef>
                <a:spcPts val="0"/>
              </a:spcBef>
              <a:buClr>
                <a:schemeClr val="accent1"/>
              </a:buClr>
              <a:buSzPts val="1300"/>
              <a:buFont typeface="Arial"/>
              <a:buChar char="◆"/>
            </a:pPr>
            <a:r>
              <a:rPr lang="en-US" sz="1700" b="1">
                <a:solidFill>
                  <a:schemeClr val="dk1"/>
                </a:solidFill>
              </a:rPr>
              <a:t>Development Approach</a:t>
            </a:r>
          </a:p>
          <a:p>
            <a:pPr marL="320040" indent="0" algn="l">
              <a:spcBef>
                <a:spcPts val="200"/>
              </a:spcBef>
              <a:buNone/>
            </a:pPr>
            <a:r>
              <a:rPr lang="en-US" sz="1400">
                <a:solidFill>
                  <a:schemeClr val="dk2"/>
                </a:solidFill>
              </a:rPr>
              <a:t>Done before the hackathon: the detector, 20 scripted scam and genuine test calls, and a live web prototype (next slide). In the 24 hours: on-device Whisper speech to text, Punjabi word lists, and polish.</a:t>
            </a:r>
          </a:p>
          <a:p>
            <a:pPr marL="320040" indent="-320040" algn="l">
              <a:spcBef>
                <a:spcPts val="900"/>
              </a:spcBef>
              <a:buClr>
                <a:schemeClr val="accent1"/>
              </a:buClr>
              <a:buSzPts val="1300"/>
              <a:buFont typeface="Arial"/>
              <a:buChar char="◆"/>
            </a:pPr>
            <a:r>
              <a:rPr lang="en-US" sz="1700" b="1">
                <a:solidFill>
                  <a:schemeClr val="dk1"/>
                </a:solidFill>
              </a:rPr>
              <a:t>Milestones</a:t>
            </a:r>
          </a:p>
          <a:p>
            <a:pPr marL="320040" indent="0" algn="l">
              <a:spcBef>
                <a:spcPts val="200"/>
              </a:spcBef>
              <a:buNone/>
            </a:pPr>
            <a:r>
              <a:rPr lang="en-US" sz="1400">
                <a:solidFill>
                  <a:schemeClr val="dk2"/>
                </a:solidFill>
              </a:rPr>
              <a:t>Five milestones across the 24 hours (see the timeline on the right).</a:t>
            </a:r>
          </a:p>
          <a:p>
            <a:pPr marL="320040" indent="-320040" algn="l">
              <a:spcBef>
                <a:spcPts val="900"/>
              </a:spcBef>
              <a:buClr>
                <a:schemeClr val="accent1"/>
              </a:buClr>
              <a:buSzPts val="1300"/>
              <a:buFont typeface="Arial"/>
              <a:buChar char="◆"/>
            </a:pPr>
            <a:r>
              <a:rPr lang="en-US" sz="1700" b="1">
                <a:solidFill>
                  <a:schemeClr val="dk1"/>
                </a:solidFill>
              </a:rPr>
              <a:t>Technical Challenges</a:t>
            </a:r>
          </a:p>
          <a:p>
            <a:pPr marL="320040" indent="0" algn="l">
              <a:spcBef>
                <a:spcPts val="200"/>
              </a:spcBef>
              <a:buNone/>
            </a:pPr>
            <a:r>
              <a:rPr lang="en-US" sz="1400">
                <a:solidFill>
                  <a:schemeClr val="dk2"/>
                </a:solidFill>
              </a:rPr>
              <a:t>Android blocks call recording [10][11], so the demo uses the laptop microphone. Punjabi accuracy is weaker, so the demo leads with Hindi and Hinglish. False alarms are controlled by the multi-step score.</a:t>
            </a:r>
          </a:p>
          <a:p>
            <a:pPr marL="320040" indent="-320040" algn="l">
              <a:spcBef>
                <a:spcPts val="900"/>
              </a:spcBef>
              <a:buClr>
                <a:schemeClr val="accent1"/>
              </a:buClr>
              <a:buSzPts val="1300"/>
              <a:buFont typeface="Arial"/>
              <a:buChar char="◆"/>
            </a:pPr>
            <a:r>
              <a:rPr lang="en-US" sz="1700" b="1">
                <a:solidFill>
                  <a:schemeClr val="dk1"/>
                </a:solidFill>
              </a:rPr>
              <a:t>Execution Strategy</a:t>
            </a:r>
          </a:p>
          <a:p>
            <a:pPr marL="320040" indent="0" algn="l">
              <a:spcBef>
                <a:spcPts val="200"/>
              </a:spcBef>
              <a:buNone/>
            </a:pPr>
            <a:r>
              <a:rPr lang="en-US" sz="1400">
                <a:solidFill>
                  <a:schemeClr val="dk2"/>
                </a:solidFill>
              </a:rPr>
              <a:t>After the hackathon: pilot with senior-citizen groups, then partner with banks and telecom operators. We will measure time from key phrase to warning, false alarms per 100 genuine calls, and scam steps caught.</a:t>
            </a:r>
          </a:p>
        </p:txBody>
      </p:sp>
      <p:sp>
        <p:nvSpPr>
          <p:cNvPr id="108" name="Google Shape;108;p14"/>
          <p:cNvSpPr txBox="1">
            <a:spLocks noGrp="1"/>
          </p:cNvSpPr>
          <p:nvPr>
            <p:ph type="sldNum" idx="4294967295"/>
          </p:nvPr>
        </p:nvSpPr>
        <p:spPr>
          <a:xfrm>
            <a:off x="11183112" y="6355080"/>
            <a:ext cx="457200" cy="27432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1000" b="0">
                <a:solidFill>
                  <a:schemeClr val="accent4"/>
                </a:solidFill>
                <a:latin typeface="Calibri"/>
                <a:ea typeface="Calibri"/>
                <a:cs typeface="Calibri"/>
                <a:sym typeface="Calibri"/>
              </a:rPr>
              <a:t>9</a:t>
            </a:r>
            <a:endParaRPr sz="1000">
              <a:solidFill>
                <a:schemeClr val="accent4"/>
              </a:solidFill>
              <a:latin typeface="Calibri"/>
              <a:ea typeface="Calibri"/>
              <a:cs typeface="Calibri"/>
              <a:sym typeface="Calibri"/>
            </a:endParaRPr>
          </a:p>
        </p:txBody>
      </p:sp>
      <p:sp>
        <p:nvSpPr>
          <p:cNvPr id="109" name="TextBox 108"/>
          <p:cNvSpPr txBox="1"/>
          <p:nvPr/>
        </p:nvSpPr>
        <p:spPr>
          <a:xfrm>
            <a:off x="7680960" y="1737360"/>
            <a:ext cx="3931920" cy="274320"/>
          </a:xfrm>
          <a:prstGeom prst="rect">
            <a:avLst/>
          </a:prstGeom>
          <a:noFill/>
        </p:spPr>
        <p:txBody>
          <a:bodyPr wrap="square" lIns="0" tIns="0" rIns="0" bIns="0">
            <a:spAutoFit/>
          </a:bodyPr>
          <a:lstStyle/>
          <a:p>
            <a:pPr algn="l"/>
            <a:r>
              <a:rPr sz="1400" b="1" i="0">
                <a:solidFill>
                  <a:srgbClr val="1E1612"/>
                </a:solidFill>
                <a:latin typeface="Calibri"/>
              </a:rPr>
              <a:t>24-hour timeline</a:t>
            </a:r>
          </a:p>
        </p:txBody>
      </p:sp>
      <p:sp>
        <p:nvSpPr>
          <p:cNvPr id="110" name="Rectangle 109"/>
          <p:cNvSpPr/>
          <p:nvPr/>
        </p:nvSpPr>
        <p:spPr>
          <a:xfrm>
            <a:off x="7680960" y="2103120"/>
            <a:ext cx="3931920" cy="603504"/>
          </a:xfrm>
          <a:prstGeom prst="rect">
            <a:avLst/>
          </a:prstGeom>
          <a:solidFill>
            <a:srgbClr val="4A3B32"/>
          </a:solidFill>
          <a:ln>
            <a:noFill/>
          </a:ln>
          <a:effectLst/>
        </p:spPr>
        <p:txBody>
          <a:bodyPr wrap="square" tIns="36576" bIns="36576" rtlCol="0" anchor="ctr"/>
          <a:lstStyle/>
          <a:p>
            <a:pPr algn="l"/>
            <a:r>
              <a:rPr sz="1300" b="1">
                <a:solidFill>
                  <a:srgbClr val="F2C27A"/>
                </a:solidFill>
                <a:latin typeface="Calibri"/>
              </a:rPr>
              <a:t>Hours 0–4   </a:t>
            </a:r>
            <a:r>
              <a:rPr sz="1300" b="0">
                <a:solidFill>
                  <a:srgbClr val="FFFFFF"/>
                </a:solidFill>
                <a:latin typeface="Calibri"/>
              </a:rPr>
              <a:t>Speech to text and test calls</a:t>
            </a:r>
          </a:p>
        </p:txBody>
      </p:sp>
      <p:cxnSp>
        <p:nvCxnSpPr>
          <p:cNvPr id="111" name="Connector 110"/>
          <p:cNvCxnSpPr/>
          <p:nvPr/>
        </p:nvCxnSpPr>
        <p:spPr>
          <a:xfrm>
            <a:off x="9646920" y="2706624"/>
            <a:ext cx="0" cy="164591"/>
          </a:xfrm>
          <a:prstGeom prst="line">
            <a:avLst/>
          </a:prstGeom>
          <a:ln w="19050">
            <a:solidFill>
              <a:srgbClr val="5B4636"/>
            </a:solidFill>
            <a:tailEnd type="triangle"/>
          </a:ln>
        </p:spPr>
      </p:cxnSp>
      <p:sp>
        <p:nvSpPr>
          <p:cNvPr id="112" name="Rectangle 111"/>
          <p:cNvSpPr/>
          <p:nvPr/>
        </p:nvSpPr>
        <p:spPr>
          <a:xfrm>
            <a:off x="7680960" y="2871215"/>
            <a:ext cx="3931920" cy="603504"/>
          </a:xfrm>
          <a:prstGeom prst="rect">
            <a:avLst/>
          </a:prstGeom>
          <a:solidFill>
            <a:srgbClr val="4A3B32"/>
          </a:solidFill>
          <a:ln>
            <a:noFill/>
          </a:ln>
          <a:effectLst/>
        </p:spPr>
        <p:txBody>
          <a:bodyPr wrap="square" tIns="36576" bIns="36576" rtlCol="0" anchor="ctr"/>
          <a:lstStyle/>
          <a:p>
            <a:pPr algn="l"/>
            <a:r>
              <a:rPr sz="1300" b="1">
                <a:solidFill>
                  <a:srgbClr val="F2C27A"/>
                </a:solidFill>
                <a:latin typeface="Calibri"/>
              </a:rPr>
              <a:t>Hours 4–10   </a:t>
            </a:r>
            <a:r>
              <a:rPr sz="1300" b="0">
                <a:solidFill>
                  <a:srgbClr val="FFFFFF"/>
                </a:solidFill>
                <a:latin typeface="Calibri"/>
              </a:rPr>
              <a:t>Word lists and risk score</a:t>
            </a:r>
          </a:p>
        </p:txBody>
      </p:sp>
      <p:cxnSp>
        <p:nvCxnSpPr>
          <p:cNvPr id="113" name="Connector 112"/>
          <p:cNvCxnSpPr/>
          <p:nvPr/>
        </p:nvCxnSpPr>
        <p:spPr>
          <a:xfrm>
            <a:off x="9646920" y="3474720"/>
            <a:ext cx="0" cy="164591"/>
          </a:xfrm>
          <a:prstGeom prst="line">
            <a:avLst/>
          </a:prstGeom>
          <a:ln w="19050">
            <a:solidFill>
              <a:srgbClr val="5B4636"/>
            </a:solidFill>
            <a:tailEnd type="triangle"/>
          </a:ln>
        </p:spPr>
      </p:cxnSp>
      <p:sp>
        <p:nvSpPr>
          <p:cNvPr id="114" name="Rectangle 113"/>
          <p:cNvSpPr/>
          <p:nvPr/>
        </p:nvSpPr>
        <p:spPr>
          <a:xfrm>
            <a:off x="7680960" y="3639311"/>
            <a:ext cx="3931920" cy="603504"/>
          </a:xfrm>
          <a:prstGeom prst="rect">
            <a:avLst/>
          </a:prstGeom>
          <a:solidFill>
            <a:srgbClr val="4A3B32"/>
          </a:solidFill>
          <a:ln>
            <a:noFill/>
          </a:ln>
          <a:effectLst/>
        </p:spPr>
        <p:txBody>
          <a:bodyPr wrap="square" tIns="36576" bIns="36576" rtlCol="0" anchor="ctr"/>
          <a:lstStyle/>
          <a:p>
            <a:pPr algn="l"/>
            <a:r>
              <a:rPr sz="1300" b="1">
                <a:solidFill>
                  <a:srgbClr val="F2C27A"/>
                </a:solidFill>
                <a:latin typeface="Calibri"/>
              </a:rPr>
              <a:t>Hours 10–16   </a:t>
            </a:r>
            <a:r>
              <a:rPr sz="1300" b="0">
                <a:solidFill>
                  <a:srgbClr val="FFFFFF"/>
                </a:solidFill>
                <a:latin typeface="Calibri"/>
              </a:rPr>
              <a:t>Live screen with risk meter</a:t>
            </a:r>
          </a:p>
        </p:txBody>
      </p:sp>
      <p:cxnSp>
        <p:nvCxnSpPr>
          <p:cNvPr id="115" name="Connector 114"/>
          <p:cNvCxnSpPr/>
          <p:nvPr/>
        </p:nvCxnSpPr>
        <p:spPr>
          <a:xfrm>
            <a:off x="9646920" y="4242816"/>
            <a:ext cx="0" cy="164591"/>
          </a:xfrm>
          <a:prstGeom prst="line">
            <a:avLst/>
          </a:prstGeom>
          <a:ln w="19050">
            <a:solidFill>
              <a:srgbClr val="5B4636"/>
            </a:solidFill>
            <a:tailEnd type="triangle"/>
          </a:ln>
        </p:spPr>
      </p:cxnSp>
      <p:sp>
        <p:nvSpPr>
          <p:cNvPr id="116" name="Rectangle 115"/>
          <p:cNvSpPr/>
          <p:nvPr/>
        </p:nvSpPr>
        <p:spPr>
          <a:xfrm>
            <a:off x="7680960" y="4407408"/>
            <a:ext cx="3931920" cy="603504"/>
          </a:xfrm>
          <a:prstGeom prst="rect">
            <a:avLst/>
          </a:prstGeom>
          <a:solidFill>
            <a:srgbClr val="4A3B32"/>
          </a:solidFill>
          <a:ln>
            <a:noFill/>
          </a:ln>
          <a:effectLst/>
        </p:spPr>
        <p:txBody>
          <a:bodyPr wrap="square" tIns="36576" bIns="36576" rtlCol="0" anchor="ctr"/>
          <a:lstStyle/>
          <a:p>
            <a:pPr algn="l"/>
            <a:r>
              <a:rPr sz="1300" b="1">
                <a:solidFill>
                  <a:srgbClr val="F2C27A"/>
                </a:solidFill>
                <a:latin typeface="Calibri"/>
              </a:rPr>
              <a:t>Hours 16–21   </a:t>
            </a:r>
            <a:r>
              <a:rPr sz="1300" b="0">
                <a:solidFill>
                  <a:srgbClr val="FFFFFF"/>
                </a:solidFill>
                <a:latin typeface="Calibri"/>
              </a:rPr>
              <a:t>Warning, voice and family alert</a:t>
            </a:r>
          </a:p>
        </p:txBody>
      </p:sp>
      <p:cxnSp>
        <p:nvCxnSpPr>
          <p:cNvPr id="117" name="Connector 116"/>
          <p:cNvCxnSpPr/>
          <p:nvPr/>
        </p:nvCxnSpPr>
        <p:spPr>
          <a:xfrm>
            <a:off x="9646920" y="5010912"/>
            <a:ext cx="0" cy="164592"/>
          </a:xfrm>
          <a:prstGeom prst="line">
            <a:avLst/>
          </a:prstGeom>
          <a:ln w="19050">
            <a:solidFill>
              <a:srgbClr val="5B4636"/>
            </a:solidFill>
            <a:tailEnd type="triangle"/>
          </a:ln>
        </p:spPr>
      </p:cxnSp>
      <p:sp>
        <p:nvSpPr>
          <p:cNvPr id="118" name="Rectangle 117"/>
          <p:cNvSpPr/>
          <p:nvPr/>
        </p:nvSpPr>
        <p:spPr>
          <a:xfrm>
            <a:off x="7680960" y="5175504"/>
            <a:ext cx="3931920" cy="603504"/>
          </a:xfrm>
          <a:prstGeom prst="rect">
            <a:avLst/>
          </a:prstGeom>
          <a:solidFill>
            <a:srgbClr val="4A3B32"/>
          </a:solidFill>
          <a:ln>
            <a:noFill/>
          </a:ln>
          <a:effectLst/>
        </p:spPr>
        <p:txBody>
          <a:bodyPr wrap="square" tIns="36576" bIns="36576" rtlCol="0" anchor="ctr"/>
          <a:lstStyle/>
          <a:p>
            <a:pPr algn="l"/>
            <a:r>
              <a:rPr sz="1300" b="1">
                <a:solidFill>
                  <a:srgbClr val="F2C27A"/>
                </a:solidFill>
                <a:latin typeface="Calibri"/>
              </a:rPr>
              <a:t>Hours 21–24   </a:t>
            </a:r>
            <a:r>
              <a:rPr sz="1300" b="0">
                <a:solidFill>
                  <a:srgbClr val="FFFFFF"/>
                </a:solidFill>
                <a:latin typeface="Calibri"/>
              </a:rPr>
              <a:t>Testing and demo practice</a:t>
            </a:r>
          </a:p>
        </p:txBody>
      </p:sp>
      <p:sp>
        <p:nvSpPr>
          <p:cNvPr id="119" name="TextBox 118"/>
          <p:cNvSpPr txBox="1"/>
          <p:nvPr/>
        </p:nvSpPr>
        <p:spPr>
          <a:xfrm>
            <a:off x="548640" y="6053328"/>
            <a:ext cx="11064240" cy="274320"/>
          </a:xfrm>
          <a:prstGeom prst="rect">
            <a:avLst/>
          </a:prstGeom>
          <a:noFill/>
        </p:spPr>
        <p:txBody>
          <a:bodyPr wrap="square" lIns="0" tIns="0" rIns="0" bIns="0">
            <a:spAutoFit/>
          </a:bodyPr>
          <a:lstStyle/>
          <a:p>
            <a:pPr algn="l"/>
            <a:r>
              <a:rPr sz="1000" b="0" i="0">
                <a:solidFill>
                  <a:srgbClr val="5B4636"/>
                </a:solidFill>
                <a:latin typeface="Calibri"/>
              </a:rPr>
              <a:t>Sources: [10] Engadget and [11] The Register on Android call-recording limits.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4"/>
          <p:cNvSpPr txBox="1">
            <a:spLocks noGrp="1"/>
          </p:cNvSpPr>
          <p:nvPr>
            <p:ph type="body" idx="1"/>
          </p:nvPr>
        </p:nvSpPr>
        <p:spPr>
          <a:xfrm>
            <a:off x="548640" y="384048"/>
            <a:ext cx="8229600" cy="292608"/>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accent1"/>
              </a:buClr>
              <a:buSzPts val="1200"/>
              <a:buNone/>
            </a:pPr>
            <a:r>
              <a:rPr lang="en-US" sz="1200" b="1" spc="300">
                <a:solidFill>
                  <a:schemeClr val="accent1"/>
                </a:solidFill>
              </a:rPr>
              <a:t>09  ·  WORKING PROTOTYPE</a:t>
            </a:r>
            <a:endParaRPr sz="1200"/>
          </a:p>
        </p:txBody>
      </p:sp>
      <p:sp>
        <p:nvSpPr>
          <p:cNvPr id="106" name="Google Shape;106;p14"/>
          <p:cNvSpPr txBox="1">
            <a:spLocks noGrp="1"/>
          </p:cNvSpPr>
          <p:nvPr>
            <p:ph type="title"/>
          </p:nvPr>
        </p:nvSpPr>
        <p:spPr>
          <a:xfrm>
            <a:off x="548640" y="676656"/>
            <a:ext cx="950976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600"/>
              <a:buFont typeface="Cambria"/>
              <a:buNone/>
            </a:pPr>
            <a:r>
              <a:rPr lang="en-US" sz="3600" b="1">
                <a:solidFill>
                  <a:schemeClr val="dk1"/>
                </a:solidFill>
              </a:rPr>
              <a:t>Working Prototype</a:t>
            </a:r>
            <a:endParaRPr sz="3600"/>
          </a:p>
        </p:txBody>
      </p:sp>
      <p:sp>
        <p:nvSpPr>
          <p:cNvPr id="107" name="Google Shape;107;p14"/>
          <p:cNvSpPr txBox="1">
            <a:spLocks noGrp="1"/>
          </p:cNvSpPr>
          <p:nvPr>
            <p:ph type="body" idx="2"/>
          </p:nvPr>
        </p:nvSpPr>
        <p:spPr>
          <a:xfrm>
            <a:off x="548640" y="1783080"/>
            <a:ext cx="6766560" cy="4160520"/>
          </a:xfrm>
          <a:prstGeom prst="rect">
            <a:avLst/>
          </a:prstGeom>
          <a:noFill/>
          <a:ln>
            <a:noFill/>
          </a:ln>
        </p:spPr>
        <p:txBody>
          <a:bodyPr spcFirstLastPara="1" wrap="square" lIns="0" tIns="0" rIns="0" bIns="0" anchor="t" anchorCtr="0">
            <a:noAutofit/>
          </a:bodyPr>
          <a:lstStyle/>
          <a:p>
            <a:pPr marL="320040" indent="-320040" algn="l">
              <a:spcBef>
                <a:spcPts val="0"/>
              </a:spcBef>
              <a:buClr>
                <a:schemeClr val="accent1"/>
              </a:buClr>
              <a:buSzPts val="1300"/>
              <a:buFont typeface="Arial"/>
              <a:buChar char="◆"/>
            </a:pPr>
            <a:r>
              <a:rPr lang="en-US" sz="1700" b="1">
                <a:solidFill>
                  <a:schemeClr val="dk1"/>
                </a:solidFill>
              </a:rPr>
              <a:t>Live Demo</a:t>
            </a:r>
          </a:p>
          <a:p>
            <a:pPr marL="320040" indent="0" algn="l">
              <a:spcBef>
                <a:spcPts val="200"/>
              </a:spcBef>
              <a:buNone/>
            </a:pPr>
            <a:r>
              <a:rPr lang="en-US" sz="1400">
                <a:solidFill>
                  <a:schemeClr val="dk2"/>
                </a:solidFill>
              </a:rPr>
              <a:t>On-device version: start.bat, then localhost:8000 (works with Wi-Fi off). Hosted version: nazar-codevators.vercel.app. Code: github.com/Kunal039/Nazar_CodeVators.</a:t>
            </a:r>
          </a:p>
          <a:p>
            <a:pPr marL="320040" indent="-320040" algn="l">
              <a:spcBef>
                <a:spcPts val="900"/>
              </a:spcBef>
              <a:buClr>
                <a:schemeClr val="accent1"/>
              </a:buClr>
              <a:buSzPts val="1300"/>
              <a:buFont typeface="Arial"/>
              <a:buChar char="◆"/>
            </a:pPr>
            <a:r>
              <a:rPr lang="en-US" sz="1700" b="1">
                <a:solidFill>
                  <a:schemeClr val="dk1"/>
                </a:solidFill>
              </a:rPr>
              <a:t>What Works Today</a:t>
            </a:r>
          </a:p>
          <a:p>
            <a:pPr marL="320040" indent="0" algn="l">
              <a:spcBef>
                <a:spcPts val="200"/>
              </a:spcBef>
              <a:buNone/>
            </a:pPr>
            <a:r>
              <a:rPr lang="en-US" sz="1400">
                <a:solidFill>
                  <a:schemeClr val="dk2"/>
                </a:solidFill>
              </a:rPr>
              <a:t>Live speech to text on the device in Hindi, English and Punjabi; five-step score with highlighted reasons; spoken warning; family alert by WhatsApp or Telegram; privacy panel.</a:t>
            </a:r>
          </a:p>
          <a:p>
            <a:pPr marL="320040" indent="-320040" algn="l">
              <a:spcBef>
                <a:spcPts val="900"/>
              </a:spcBef>
              <a:buClr>
                <a:schemeClr val="accent1"/>
              </a:buClr>
              <a:buSzPts val="1300"/>
              <a:buFont typeface="Arial"/>
              <a:buChar char="◆"/>
            </a:pPr>
            <a:r>
              <a:rPr lang="en-US" sz="1700" b="1">
                <a:solidFill>
                  <a:schemeClr val="dk1"/>
                </a:solidFill>
              </a:rPr>
              <a:t>Results on 119 Scripted Calls</a:t>
            </a:r>
          </a:p>
          <a:p>
            <a:pPr marL="320040" indent="0" algn="l">
              <a:spcBef>
                <a:spcPts val="200"/>
              </a:spcBef>
              <a:buNone/>
            </a:pPr>
            <a:r>
              <a:rPr lang="en-US" sz="1400">
                <a:solidFill>
                  <a:schemeClr val="dk2"/>
                </a:solidFill>
              </a:rPr>
              <a:t>54 of 54 digital-arrest scams caught before money was asked for, including Whisper-style transcripts; 1 of 58 genuine calls raised the alarm (a lawyer call, documented). Through Whisper on phone-quality audio: Hindi and Punjabi scams alarm at sentence 3; the genuine call stays safe.</a:t>
            </a:r>
          </a:p>
          <a:p>
            <a:pPr marL="320040" indent="-320040" algn="l">
              <a:spcBef>
                <a:spcPts val="900"/>
              </a:spcBef>
              <a:buClr>
                <a:schemeClr val="accent1"/>
              </a:buClr>
              <a:buSzPts val="1300"/>
              <a:buFont typeface="Arial"/>
              <a:buChar char="◆"/>
            </a:pPr>
            <a:r>
              <a:rPr lang="en-US" sz="1700" b="1">
                <a:solidFill>
                  <a:schemeClr val="dk1"/>
                </a:solidFill>
              </a:rPr>
              <a:t>Still to Build</a:t>
            </a:r>
          </a:p>
          <a:p>
            <a:pPr marL="320040" indent="0" algn="l">
              <a:spcBef>
                <a:spcPts val="200"/>
              </a:spcBef>
              <a:buNone/>
            </a:pPr>
            <a:r>
              <a:rPr lang="en-US" sz="1400">
                <a:solidFill>
                  <a:schemeClr val="dk2"/>
                </a:solidFill>
              </a:rPr>
              <a:t>Android app with dialer integration, listening only to unknown numbers, learning weights from real call data, and pilots with banks and telecom partners.</a:t>
            </a:r>
          </a:p>
        </p:txBody>
      </p:sp>
      <p:sp>
        <p:nvSpPr>
          <p:cNvPr id="108" name="Google Shape;108;p14"/>
          <p:cNvSpPr txBox="1">
            <a:spLocks noGrp="1"/>
          </p:cNvSpPr>
          <p:nvPr>
            <p:ph type="sldNum" idx="4294967295"/>
          </p:nvPr>
        </p:nvSpPr>
        <p:spPr>
          <a:xfrm>
            <a:off x="11183112" y="6355080"/>
            <a:ext cx="457200" cy="27432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1000" b="0">
                <a:solidFill>
                  <a:schemeClr val="accent4"/>
                </a:solidFill>
                <a:latin typeface="Calibri"/>
                <a:ea typeface="Calibri"/>
                <a:cs typeface="Calibri"/>
                <a:sym typeface="Calibri"/>
              </a:rPr>
              <a:t>10</a:t>
            </a:r>
            <a:endParaRPr sz="1000">
              <a:solidFill>
                <a:schemeClr val="accent4"/>
              </a:solidFill>
              <a:latin typeface="Calibri"/>
              <a:ea typeface="Calibri"/>
              <a:cs typeface="Calibri"/>
              <a:sym typeface="Calibri"/>
            </a:endParaRPr>
          </a:p>
        </p:txBody>
      </p:sp>
      <p:sp>
        <p:nvSpPr>
          <p:cNvPr id="109" name="TextBox 108"/>
          <p:cNvSpPr txBox="1"/>
          <p:nvPr/>
        </p:nvSpPr>
        <p:spPr>
          <a:xfrm>
            <a:off x="7680960" y="1737360"/>
            <a:ext cx="3931920" cy="215444"/>
          </a:xfrm>
          <a:prstGeom prst="rect">
            <a:avLst/>
          </a:prstGeom>
          <a:noFill/>
        </p:spPr>
        <p:txBody>
          <a:bodyPr wrap="square" lIns="0" tIns="0" rIns="0" bIns="0">
            <a:spAutoFit/>
          </a:bodyPr>
          <a:lstStyle/>
          <a:p>
            <a:pPr algn="l"/>
            <a:r>
              <a:rPr lang="en-IN" sz="1400" b="1" i="0">
                <a:solidFill>
                  <a:srgbClr val="1E1612"/>
                </a:solidFill>
                <a:latin typeface="Calibri"/>
              </a:rPr>
              <a:t>The app today</a:t>
            </a:r>
            <a:endParaRPr sz="1400" b="1" i="0">
              <a:solidFill>
                <a:srgbClr val="1E1612"/>
              </a:solidFill>
              <a:latin typeface="Calibri"/>
            </a:endParaRPr>
          </a:p>
        </p:txBody>
      </p:sp>
      <p:sp>
        <p:nvSpPr>
          <p:cNvPr id="119" name="TextBox 118"/>
          <p:cNvSpPr txBox="1"/>
          <p:nvPr/>
        </p:nvSpPr>
        <p:spPr>
          <a:xfrm>
            <a:off x="548640" y="6053328"/>
            <a:ext cx="11064240" cy="153888"/>
          </a:xfrm>
          <a:prstGeom prst="rect">
            <a:avLst/>
          </a:prstGeom>
          <a:noFill/>
        </p:spPr>
        <p:txBody>
          <a:bodyPr wrap="square" lIns="0" tIns="0" rIns="0" bIns="0">
            <a:spAutoFit/>
          </a:bodyPr>
          <a:lstStyle/>
          <a:p>
            <a:pPr algn="l"/>
            <a:r>
              <a:rPr lang="en-US" sz="1000" b="0" i="0">
                <a:solidFill>
                  <a:srgbClr val="5B4636"/>
                </a:solidFill>
                <a:latin typeface="Calibri"/>
              </a:rPr>
              <a:t>Results from node web/test.js and node web/e2e_live.js. All test calls are fictional and written by our team, so they are not real-world accuracy.</a:t>
            </a:r>
            <a:endParaRPr sz="1000" b="0" i="0">
              <a:solidFill>
                <a:srgbClr val="5B4636"/>
              </a:solidFill>
              <a:latin typeface="Calibri"/>
            </a:endParaRPr>
          </a:p>
        </p:txBody>
      </p:sp>
      <p:sp>
        <p:nvSpPr>
          <p:cNvPr id="4" name="Stat 1">
            <a:extLst>
              <a:ext uri="{FF2B5EF4-FFF2-40B4-BE49-F238E27FC236}">
                <a16:creationId xmlns:a16="http://schemas.microsoft.com/office/drawing/2014/main" id="{C54F873D-2684-9B9C-1BD8-B9C91556D67D}"/>
              </a:ext>
            </a:extLst>
          </p:cNvPr>
          <p:cNvSpPr/>
          <p:nvPr/>
        </p:nvSpPr>
        <p:spPr>
          <a:xfrm>
            <a:off x="7680961" y="4417718"/>
            <a:ext cx="1242907" cy="711200"/>
          </a:xfrm>
          <a:prstGeom prst="rect">
            <a:avLst/>
          </a:prstGeom>
          <a:solidFill>
            <a:srgbClr val="4A3B32"/>
          </a:solidFill>
          <a:ln>
            <a:noFill/>
          </a:ln>
          <a:effectLst/>
        </p:spPr>
        <p:txBody>
          <a:bodyPr wrap="square" lIns="50800" tIns="36576" rIns="50800" bIns="36576" rtlCol="0" anchor="ctr"/>
          <a:lstStyle/>
          <a:p>
            <a:pPr algn="ctr"/>
            <a:r>
              <a:rPr lang="en-IN" sz="2200" b="1">
                <a:solidFill>
                  <a:srgbClr val="F2C27A"/>
                </a:solidFill>
                <a:latin typeface="Calibri"/>
              </a:rPr>
              <a:t>54/54</a:t>
            </a:r>
          </a:p>
          <a:p>
            <a:pPr algn="ctr"/>
            <a:r>
              <a:rPr lang="en-IN" sz="1050">
                <a:solidFill>
                  <a:srgbClr val="F2C27A"/>
                </a:solidFill>
                <a:latin typeface="Calibri"/>
              </a:rPr>
              <a:t>scams caught</a:t>
            </a:r>
            <a:endParaRPr sz="1050">
              <a:solidFill>
                <a:srgbClr val="FFFFFF"/>
              </a:solidFill>
              <a:latin typeface="Calibri"/>
            </a:endParaRPr>
          </a:p>
        </p:txBody>
      </p:sp>
      <p:sp>
        <p:nvSpPr>
          <p:cNvPr id="5" name="Stat 2">
            <a:extLst>
              <a:ext uri="{FF2B5EF4-FFF2-40B4-BE49-F238E27FC236}">
                <a16:creationId xmlns:a16="http://schemas.microsoft.com/office/drawing/2014/main" id="{53001C94-0226-F4E6-A18E-7ACC9398FB4C}"/>
              </a:ext>
            </a:extLst>
          </p:cNvPr>
          <p:cNvSpPr/>
          <p:nvPr/>
        </p:nvSpPr>
        <p:spPr>
          <a:xfrm>
            <a:off x="9025468" y="4417718"/>
            <a:ext cx="1242907" cy="711200"/>
          </a:xfrm>
          <a:prstGeom prst="rect">
            <a:avLst/>
          </a:prstGeom>
          <a:solidFill>
            <a:srgbClr val="4A3B32"/>
          </a:solidFill>
          <a:ln>
            <a:noFill/>
          </a:ln>
          <a:effectLst/>
        </p:spPr>
        <p:txBody>
          <a:bodyPr wrap="square" lIns="50800" tIns="36576" rIns="50800" bIns="36576" rtlCol="0" anchor="ctr"/>
          <a:lstStyle/>
          <a:p>
            <a:pPr algn="ctr"/>
            <a:r>
              <a:rPr lang="en-IN" sz="2200" b="1">
                <a:solidFill>
                  <a:srgbClr val="F2C27A"/>
                </a:solidFill>
                <a:latin typeface="Calibri"/>
              </a:rPr>
              <a:t>1/58</a:t>
            </a:r>
          </a:p>
          <a:p>
            <a:pPr algn="ctr"/>
            <a:r>
              <a:rPr lang="en-IN" sz="1050">
                <a:solidFill>
                  <a:srgbClr val="F2C27A"/>
                </a:solidFill>
                <a:latin typeface="Calibri"/>
              </a:rPr>
              <a:t>false alarms</a:t>
            </a:r>
            <a:endParaRPr sz="1050">
              <a:solidFill>
                <a:srgbClr val="FFFFFF"/>
              </a:solidFill>
              <a:latin typeface="Calibri"/>
            </a:endParaRPr>
          </a:p>
        </p:txBody>
      </p:sp>
      <p:sp>
        <p:nvSpPr>
          <p:cNvPr id="6" name="Stat 3">
            <a:extLst>
              <a:ext uri="{FF2B5EF4-FFF2-40B4-BE49-F238E27FC236}">
                <a16:creationId xmlns:a16="http://schemas.microsoft.com/office/drawing/2014/main" id="{A85B2585-3E90-AD08-A6E0-63605DB498A0}"/>
              </a:ext>
            </a:extLst>
          </p:cNvPr>
          <p:cNvSpPr/>
          <p:nvPr/>
        </p:nvSpPr>
        <p:spPr>
          <a:xfrm>
            <a:off x="10369974" y="4417718"/>
            <a:ext cx="1242907" cy="711200"/>
          </a:xfrm>
          <a:prstGeom prst="rect">
            <a:avLst/>
          </a:prstGeom>
          <a:solidFill>
            <a:srgbClr val="4A3B32"/>
          </a:solidFill>
          <a:ln>
            <a:noFill/>
          </a:ln>
          <a:effectLst/>
        </p:spPr>
        <p:txBody>
          <a:bodyPr wrap="square" lIns="50800" tIns="36576" rIns="50800" bIns="36576" rtlCol="0" anchor="ctr"/>
          <a:lstStyle/>
          <a:p>
            <a:pPr algn="ctr"/>
            <a:r>
              <a:rPr lang="en-IN" sz="2200" b="1">
                <a:solidFill>
                  <a:srgbClr val="F2C27A"/>
                </a:solidFill>
                <a:latin typeface="Calibri"/>
              </a:rPr>
              <a:t>0.7 s</a:t>
            </a:r>
          </a:p>
          <a:p>
            <a:pPr algn="ctr"/>
            <a:r>
              <a:rPr lang="en-IN" sz="1050">
                <a:solidFill>
                  <a:srgbClr val="F2C27A"/>
                </a:solidFill>
                <a:latin typeface="Calibri"/>
              </a:rPr>
              <a:t>per sentence</a:t>
            </a:r>
            <a:endParaRPr sz="1050">
              <a:solidFill>
                <a:srgbClr val="FFFFFF"/>
              </a:solidFill>
              <a:latin typeface="Calibri"/>
            </a:endParaRPr>
          </a:p>
        </p:txBody>
      </p:sp>
      <p:sp>
        <p:nvSpPr>
          <p:cNvPr id="7" name="Demo link button">
            <a:hlinkClick r:id="rId3"/>
            <a:extLst>
              <a:ext uri="{FF2B5EF4-FFF2-40B4-BE49-F238E27FC236}">
                <a16:creationId xmlns:a16="http://schemas.microsoft.com/office/drawing/2014/main" id="{D000B81C-69CE-AF33-A06C-62B184090036}"/>
              </a:ext>
            </a:extLst>
          </p:cNvPr>
          <p:cNvSpPr/>
          <p:nvPr/>
        </p:nvSpPr>
        <p:spPr>
          <a:xfrm>
            <a:off x="7680960" y="5230518"/>
            <a:ext cx="3931920" cy="457200"/>
          </a:xfrm>
          <a:prstGeom prst="rect">
            <a:avLst/>
          </a:prstGeom>
          <a:solidFill>
            <a:srgbClr val="4A3B32"/>
          </a:solidFill>
          <a:ln>
            <a:noFill/>
          </a:ln>
          <a:effectLst/>
        </p:spPr>
        <p:txBody>
          <a:bodyPr wrap="square" tIns="36576" bIns="36576" rtlCol="0" anchor="ctr"/>
          <a:lstStyle/>
          <a:p>
            <a:pPr algn="ctr"/>
            <a:r>
              <a:rPr lang="en-US" b="1">
                <a:solidFill>
                  <a:srgbClr val="F2C27A"/>
                </a:solidFill>
                <a:latin typeface="Calibri"/>
                <a:hlinkClick r:id="rId3"/>
              </a:rPr>
              <a:t>Try it: nazar-codevators.vercel.app</a:t>
            </a:r>
            <a:endParaRPr b="0">
              <a:solidFill>
                <a:srgbClr val="FFFFFF"/>
              </a:solidFill>
              <a:latin typeface="Calibri"/>
            </a:endParaRPr>
          </a:p>
        </p:txBody>
      </p:sp>
      <p:pic>
        <p:nvPicPr>
          <p:cNvPr id="8" name="Picture 7">
            <a:extLst>
              <a:ext uri="{FF2B5EF4-FFF2-40B4-BE49-F238E27FC236}">
                <a16:creationId xmlns:a16="http://schemas.microsoft.com/office/drawing/2014/main" id="{0587157C-6429-2249-794C-C3F9E3A131AB}"/>
              </a:ext>
            </a:extLst>
          </p:cNvPr>
          <p:cNvPicPr>
            <a:picLocks/>
          </p:cNvPicPr>
          <p:nvPr/>
        </p:nvPicPr>
        <p:blipFill>
          <a:blip r:embed="rId4"/>
          <a:stretch>
            <a:fillRect/>
          </a:stretch>
        </p:blipFill>
        <p:spPr>
          <a:xfrm>
            <a:off x="7683500" y="2108200"/>
            <a:ext cx="2796032" cy="2184400"/>
          </a:xfrm>
          <a:prstGeom prst="rect">
            <a:avLst/>
          </a:prstGeom>
        </p:spPr>
      </p:pic>
    </p:spTree>
    <p:extLst>
      <p:ext uri="{BB962C8B-B14F-4D97-AF65-F5344CB8AC3E}">
        <p14:creationId xmlns:p14="http://schemas.microsoft.com/office/powerpoint/2010/main" val="14402114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4"/>
          <p:cNvSpPr txBox="1">
            <a:spLocks noGrp="1"/>
          </p:cNvSpPr>
          <p:nvPr>
            <p:ph type="body" idx="1"/>
          </p:nvPr>
        </p:nvSpPr>
        <p:spPr>
          <a:xfrm>
            <a:off x="548640" y="384048"/>
            <a:ext cx="8229600" cy="292608"/>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accent1"/>
              </a:buClr>
              <a:buSzPts val="1200"/>
              <a:buNone/>
            </a:pPr>
            <a:r>
              <a:rPr lang="en-US" sz="1200" b="1" spc="300">
                <a:solidFill>
                  <a:schemeClr val="accent1"/>
                </a:solidFill>
              </a:rPr>
              <a:t>10  ·  BUILT AT THE VENUE</a:t>
            </a:r>
            <a:endParaRPr sz="1200"/>
          </a:p>
        </p:txBody>
      </p:sp>
      <p:sp>
        <p:nvSpPr>
          <p:cNvPr id="106" name="Google Shape;106;p14"/>
          <p:cNvSpPr txBox="1">
            <a:spLocks noGrp="1"/>
          </p:cNvSpPr>
          <p:nvPr>
            <p:ph type="title"/>
          </p:nvPr>
        </p:nvSpPr>
        <p:spPr>
          <a:xfrm>
            <a:off x="548640" y="676656"/>
            <a:ext cx="950976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600"/>
              <a:buFont typeface="Cambria"/>
              <a:buNone/>
            </a:pPr>
            <a:r>
              <a:rPr lang="en-US" sz="3600" b="1">
                <a:solidFill>
                  <a:schemeClr val="dk1"/>
                </a:solidFill>
              </a:rPr>
              <a:t>What We Built at the Venue</a:t>
            </a:r>
            <a:endParaRPr sz="3600"/>
          </a:p>
        </p:txBody>
      </p:sp>
      <p:sp>
        <p:nvSpPr>
          <p:cNvPr id="107" name="Google Shape;107;p14"/>
          <p:cNvSpPr txBox="1">
            <a:spLocks noGrp="1"/>
          </p:cNvSpPr>
          <p:nvPr>
            <p:ph type="body" idx="2"/>
          </p:nvPr>
        </p:nvSpPr>
        <p:spPr>
          <a:xfrm>
            <a:off x="548640" y="1783080"/>
            <a:ext cx="11061700" cy="4160520"/>
          </a:xfrm>
          <a:prstGeom prst="rect">
            <a:avLst/>
          </a:prstGeom>
          <a:noFill/>
          <a:ln>
            <a:noFill/>
          </a:ln>
        </p:spPr>
        <p:txBody>
          <a:bodyPr spcFirstLastPara="1" wrap="square" lIns="0" tIns="0" rIns="0" bIns="0" anchor="t" anchorCtr="0">
            <a:noAutofit/>
          </a:bodyPr>
          <a:lstStyle/>
          <a:p>
            <a:pPr marL="320040" indent="-320040" algn="l">
              <a:spcBef>
                <a:spcPts val="0"/>
              </a:spcBef>
              <a:buClr>
                <a:schemeClr val="accent1"/>
              </a:buClr>
              <a:buSzPts val="1300"/>
              <a:buFont typeface="Arial"/>
              <a:buChar char="◆"/>
            </a:pPr>
            <a:r>
              <a:rPr lang="en-US" sz="1700" b="1">
                <a:solidFill>
                  <a:schemeClr val="dk1"/>
                </a:solidFill>
              </a:rPr>
              <a:t>On-device Speech Server</a:t>
            </a:r>
          </a:p>
          <a:p>
            <a:pPr marL="320040" indent="0" algn="l">
              <a:spcBef>
                <a:spcPts val="200"/>
              </a:spcBef>
              <a:buNone/>
            </a:pPr>
            <a:r>
              <a:rPr lang="en-US" sz="1400">
                <a:solidFill>
                  <a:schemeClr val="dk2"/>
                </a:solidFill>
              </a:rPr>
              <a:t>A FastAPI WebSocket server runs Whisper large-v3-turbo on the laptop's GPU. The browser streams mic audio; the server cuts it into sentences and returns text in about 0.7 s each. Falls back to a small CPU model, and works with Wi-Fi off.</a:t>
            </a:r>
          </a:p>
          <a:p>
            <a:pPr marL="320040" indent="-320040" algn="l">
              <a:spcBef>
                <a:spcPts val="900"/>
              </a:spcBef>
              <a:buClr>
                <a:schemeClr val="accent1"/>
              </a:buClr>
              <a:buSzPts val="1300"/>
              <a:buFont typeface="Arial"/>
              <a:buChar char="◆"/>
            </a:pPr>
            <a:r>
              <a:rPr lang="en-US" sz="1700" b="1">
                <a:solidFill>
                  <a:schemeClr val="dk1"/>
                </a:solidFill>
              </a:rPr>
              <a:t>Privacy by Design (raised at Evaluation 1)</a:t>
            </a:r>
          </a:p>
          <a:p>
            <a:pPr marL="320040" indent="0" algn="l">
              <a:spcBef>
                <a:spcPts val="200"/>
              </a:spcBef>
              <a:buNone/>
            </a:pPr>
            <a:r>
              <a:rPr lang="en-US" sz="1400">
                <a:solidFill>
                  <a:schemeClr val="dk2"/>
                </a:solidFill>
              </a:rPr>
              <a:t>On-device speech by default, call text forgotten after 30 seconds, everything wiped when listening stops, and family alerts that never contain what was said.</a:t>
            </a:r>
          </a:p>
          <a:p>
            <a:pPr marL="320040" indent="-320040" algn="l">
              <a:spcBef>
                <a:spcPts val="900"/>
              </a:spcBef>
              <a:buClr>
                <a:schemeClr val="accent1"/>
              </a:buClr>
              <a:buSzPts val="1300"/>
              <a:buFont typeface="Arial"/>
              <a:buChar char="◆"/>
            </a:pPr>
            <a:r>
              <a:rPr lang="en-US" sz="1700" b="1">
                <a:solidFill>
                  <a:schemeClr val="dk1"/>
                </a:solidFill>
              </a:rPr>
              <a:t>Accuracy Fixes</a:t>
            </a:r>
          </a:p>
          <a:p>
            <a:pPr marL="320040" indent="0" algn="l">
              <a:spcBef>
                <a:spcPts val="200"/>
              </a:spcBef>
              <a:buNone/>
            </a:pPr>
            <a:r>
              <a:rPr lang="en-US" sz="1400">
                <a:solidFill>
                  <a:schemeClr val="dk2"/>
                </a:solidFill>
              </a:rPr>
              <a:t>Threats count only when aimed at the listener (fixed a news-report false alarm); Whisper mishearings such as ग्रग and वोरेंट added; Hinglish 'don't tell your family' phrases; delivery OTP recognised as genuine.</a:t>
            </a:r>
          </a:p>
          <a:p>
            <a:pPr marL="320040" indent="-320040" algn="l">
              <a:spcBef>
                <a:spcPts val="900"/>
              </a:spcBef>
              <a:buClr>
                <a:schemeClr val="accent1"/>
              </a:buClr>
              <a:buSzPts val="1300"/>
              <a:buFont typeface="Arial"/>
              <a:buChar char="◆"/>
            </a:pPr>
            <a:r>
              <a:rPr lang="en-US" sz="1700" b="1">
                <a:solidFill>
                  <a:schemeClr val="dk1"/>
                </a:solidFill>
              </a:rPr>
              <a:t>Testing</a:t>
            </a:r>
          </a:p>
          <a:p>
            <a:pPr marL="320040" indent="0" algn="l">
              <a:spcBef>
                <a:spcPts val="200"/>
              </a:spcBef>
              <a:buNone/>
            </a:pPr>
            <a:r>
              <a:rPr lang="en-US" sz="1400">
                <a:solidFill>
                  <a:schemeClr val="dk2"/>
                </a:solidFill>
              </a:rPr>
              <a:t>119 test calls (64 new), unit tests, privacy tests and an end-to-end test through Whisper, all run by GitHub Actions on every change. 230+ commits and feature pull requests on GitHub.</a:t>
            </a:r>
          </a:p>
        </p:txBody>
      </p:sp>
      <p:sp>
        <p:nvSpPr>
          <p:cNvPr id="108" name="Google Shape;108;p14"/>
          <p:cNvSpPr txBox="1">
            <a:spLocks noGrp="1"/>
          </p:cNvSpPr>
          <p:nvPr>
            <p:ph type="sldNum" idx="4294967295"/>
          </p:nvPr>
        </p:nvSpPr>
        <p:spPr>
          <a:xfrm>
            <a:off x="11183112" y="6355080"/>
            <a:ext cx="457200" cy="27432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1000" b="0">
                <a:solidFill>
                  <a:schemeClr val="accent4"/>
                </a:solidFill>
                <a:latin typeface="Calibri"/>
                <a:ea typeface="Calibri"/>
                <a:cs typeface="Calibri"/>
                <a:sym typeface="Calibri"/>
              </a:rPr>
              <a:t>11</a:t>
            </a:r>
            <a:endParaRPr sz="1000">
              <a:solidFill>
                <a:schemeClr val="accent4"/>
              </a:solidFill>
              <a:latin typeface="Calibri"/>
              <a:ea typeface="Calibri"/>
              <a:cs typeface="Calibri"/>
              <a:sym typeface="Calibri"/>
            </a:endParaRPr>
          </a:p>
        </p:txBody>
      </p:sp>
      <p:sp>
        <p:nvSpPr>
          <p:cNvPr id="119" name="TextBox 118"/>
          <p:cNvSpPr txBox="1"/>
          <p:nvPr/>
        </p:nvSpPr>
        <p:spPr>
          <a:xfrm>
            <a:off x="548640" y="6053328"/>
            <a:ext cx="11064240" cy="153888"/>
          </a:xfrm>
          <a:prstGeom prst="rect">
            <a:avLst/>
          </a:prstGeom>
          <a:noFill/>
        </p:spPr>
        <p:txBody>
          <a:bodyPr wrap="square" lIns="0" tIns="0" rIns="0" bIns="0">
            <a:spAutoFit/>
          </a:bodyPr>
          <a:lstStyle/>
          <a:p>
            <a:pPr algn="l"/>
            <a:r>
              <a:rPr lang="en-US" sz="1000" b="0" i="0">
                <a:solidFill>
                  <a:srgbClr val="5B4636"/>
                </a:solidFill>
                <a:latin typeface="Calibri"/>
              </a:rPr>
              <a:t>The detector and web page started as our Phase 1 online-round prototype; the GitHub README marks what was built at the venue.</a:t>
            </a:r>
            <a:endParaRPr sz="1000" b="0" i="0">
              <a:solidFill>
                <a:srgbClr val="5B4636"/>
              </a:solidFill>
              <a:latin typeface="Calibri"/>
            </a:endParaRPr>
          </a:p>
        </p:txBody>
      </p:sp>
    </p:spTree>
    <p:extLst>
      <p:ext uri="{BB962C8B-B14F-4D97-AF65-F5344CB8AC3E}">
        <p14:creationId xmlns:p14="http://schemas.microsoft.com/office/powerpoint/2010/main" val="14544993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4"/>
          <p:cNvSpPr txBox="1">
            <a:spLocks noGrp="1"/>
          </p:cNvSpPr>
          <p:nvPr>
            <p:ph type="body" idx="1"/>
          </p:nvPr>
        </p:nvSpPr>
        <p:spPr>
          <a:xfrm>
            <a:off x="548640" y="384048"/>
            <a:ext cx="8229600" cy="292608"/>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accent1"/>
              </a:buClr>
              <a:buSzPts val="1200"/>
              <a:buNone/>
            </a:pPr>
            <a:r>
              <a:rPr lang="en-US" sz="1200" b="1" spc="300">
                <a:solidFill>
                  <a:schemeClr val="accent1"/>
                </a:solidFill>
              </a:rPr>
              <a:t>11  ·  PRIVACY BY DESIGN</a:t>
            </a:r>
            <a:endParaRPr sz="1200"/>
          </a:p>
        </p:txBody>
      </p:sp>
      <p:sp>
        <p:nvSpPr>
          <p:cNvPr id="106" name="Google Shape;106;p14"/>
          <p:cNvSpPr txBox="1">
            <a:spLocks noGrp="1"/>
          </p:cNvSpPr>
          <p:nvPr>
            <p:ph type="title"/>
          </p:nvPr>
        </p:nvSpPr>
        <p:spPr>
          <a:xfrm>
            <a:off x="548640" y="676656"/>
            <a:ext cx="950976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600"/>
              <a:buFont typeface="Cambria"/>
              <a:buNone/>
            </a:pPr>
            <a:r>
              <a:rPr lang="en-US" sz="3600" b="1">
                <a:solidFill>
                  <a:schemeClr val="dk1"/>
                </a:solidFill>
              </a:rPr>
              <a:t>Privacy by Design</a:t>
            </a:r>
            <a:endParaRPr sz="3600"/>
          </a:p>
        </p:txBody>
      </p:sp>
      <p:sp>
        <p:nvSpPr>
          <p:cNvPr id="107" name="Google Shape;107;p14"/>
          <p:cNvSpPr txBox="1">
            <a:spLocks noGrp="1"/>
          </p:cNvSpPr>
          <p:nvPr>
            <p:ph type="body" idx="2"/>
          </p:nvPr>
        </p:nvSpPr>
        <p:spPr>
          <a:xfrm>
            <a:off x="548640" y="1783080"/>
            <a:ext cx="11061700" cy="4160520"/>
          </a:xfrm>
          <a:prstGeom prst="rect">
            <a:avLst/>
          </a:prstGeom>
          <a:noFill/>
          <a:ln>
            <a:noFill/>
          </a:ln>
        </p:spPr>
        <p:txBody>
          <a:bodyPr spcFirstLastPara="1" wrap="square" lIns="0" tIns="0" rIns="0" bIns="0" anchor="t" anchorCtr="0">
            <a:noAutofit/>
          </a:bodyPr>
          <a:lstStyle/>
          <a:p>
            <a:pPr marL="320040" indent="-320040" algn="l">
              <a:spcBef>
                <a:spcPts val="0"/>
              </a:spcBef>
              <a:buClr>
                <a:schemeClr val="accent1"/>
              </a:buClr>
              <a:buSzPts val="1300"/>
              <a:buFont typeface="Arial"/>
              <a:buChar char="◆"/>
            </a:pPr>
            <a:r>
              <a:rPr lang="en-US" sz="1700" b="1">
                <a:solidFill>
                  <a:schemeClr val="dk1"/>
                </a:solidFill>
              </a:rPr>
              <a:t>Audio Never Leaves the Device</a:t>
            </a:r>
          </a:p>
          <a:p>
            <a:pPr marL="320040" indent="0" algn="l">
              <a:spcBef>
                <a:spcPts val="200"/>
              </a:spcBef>
              <a:buNone/>
            </a:pPr>
            <a:r>
              <a:rPr lang="en-US" sz="1400">
                <a:solidFill>
                  <a:schemeClr val="dk2"/>
                </a:solidFill>
              </a:rPr>
              <a:t>Whisper runs on the device, bound to localhost. Cloud speech is only an opt-in fallback, with a warning before it is used.</a:t>
            </a:r>
          </a:p>
          <a:p>
            <a:pPr marL="320040" indent="-320040" algn="l">
              <a:spcBef>
                <a:spcPts val="900"/>
              </a:spcBef>
              <a:buClr>
                <a:schemeClr val="accent1"/>
              </a:buClr>
              <a:buSzPts val="1300"/>
              <a:buFont typeface="Arial"/>
              <a:buChar char="◆"/>
            </a:pPr>
            <a:r>
              <a:rPr lang="en-US" sz="1700" b="1">
                <a:solidFill>
                  <a:schemeClr val="dk1"/>
                </a:solidFill>
              </a:rPr>
              <a:t>Nothing Is Recorded, Short Memory</a:t>
            </a:r>
          </a:p>
          <a:p>
            <a:pPr marL="320040" indent="0" algn="l">
              <a:spcBef>
                <a:spcPts val="200"/>
              </a:spcBef>
              <a:buNone/>
            </a:pPr>
            <a:r>
              <a:rPr lang="en-US" sz="1400">
                <a:solidFill>
                  <a:schemeClr val="dk2"/>
                </a:solidFill>
              </a:rPr>
              <a:t>Audio is transcribed in memory sentence by sentence and discarded. After 30 seconds a line keeps only its scam phrases, or nothing at all.</a:t>
            </a:r>
          </a:p>
          <a:p>
            <a:pPr marL="320040" indent="-320040" algn="l">
              <a:spcBef>
                <a:spcPts val="900"/>
              </a:spcBef>
              <a:buClr>
                <a:schemeClr val="accent1"/>
              </a:buClr>
              <a:buSzPts val="1300"/>
              <a:buFont typeface="Arial"/>
              <a:buChar char="◆"/>
            </a:pPr>
            <a:r>
              <a:rPr lang="en-US" sz="1700" b="1">
                <a:solidFill>
                  <a:schemeClr val="dk1"/>
                </a:solidFill>
              </a:rPr>
              <a:t>Wiped When the Call Ends</a:t>
            </a:r>
          </a:p>
          <a:p>
            <a:pPr marL="320040" indent="0" algn="l">
              <a:spcBef>
                <a:spcPts val="200"/>
              </a:spcBef>
              <a:buNone/>
            </a:pPr>
            <a:r>
              <a:rPr lang="en-US" sz="1400">
                <a:solidFill>
                  <a:schemeClr val="dk2"/>
                </a:solidFill>
              </a:rPr>
              <a:t>Stopping listening forgets all call text at once. No logs of call content are written anywhere.</a:t>
            </a:r>
          </a:p>
          <a:p>
            <a:pPr marL="320040" indent="-320040" algn="l">
              <a:spcBef>
                <a:spcPts val="900"/>
              </a:spcBef>
              <a:buClr>
                <a:schemeClr val="accent1"/>
              </a:buClr>
              <a:buSzPts val="1300"/>
              <a:buFont typeface="Arial"/>
              <a:buChar char="◆"/>
            </a:pPr>
            <a:r>
              <a:rPr lang="en-US" sz="1700" b="1">
                <a:solidFill>
                  <a:schemeClr val="dk1"/>
                </a:solidFill>
              </a:rPr>
              <a:t>Alerts Carry No Conversation</a:t>
            </a:r>
          </a:p>
          <a:p>
            <a:pPr marL="320040" indent="0" algn="l">
              <a:spcBef>
                <a:spcPts val="200"/>
              </a:spcBef>
              <a:buNone/>
            </a:pPr>
            <a:r>
              <a:rPr lang="en-US" sz="1400">
                <a:solidFill>
                  <a:schemeClr val="dk2"/>
                </a:solidFill>
              </a:rPr>
              <a:t>The family sees only the risk level, the warning signs and the time, never what was said. On a phone, Nazar would listen only to calls from unknown numbers.</a:t>
            </a:r>
          </a:p>
        </p:txBody>
      </p:sp>
      <p:sp>
        <p:nvSpPr>
          <p:cNvPr id="108" name="Google Shape;108;p14"/>
          <p:cNvSpPr txBox="1">
            <a:spLocks noGrp="1"/>
          </p:cNvSpPr>
          <p:nvPr>
            <p:ph type="sldNum" idx="4294967295"/>
          </p:nvPr>
        </p:nvSpPr>
        <p:spPr>
          <a:xfrm>
            <a:off x="11183112" y="6355080"/>
            <a:ext cx="457200" cy="27432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1000" b="0">
                <a:solidFill>
                  <a:schemeClr val="accent4"/>
                </a:solidFill>
                <a:latin typeface="Calibri"/>
                <a:ea typeface="Calibri"/>
                <a:cs typeface="Calibri"/>
                <a:sym typeface="Calibri"/>
              </a:rPr>
              <a:t>12</a:t>
            </a:r>
            <a:endParaRPr sz="1000">
              <a:solidFill>
                <a:schemeClr val="accent4"/>
              </a:solidFill>
              <a:latin typeface="Calibri"/>
              <a:ea typeface="Calibri"/>
              <a:cs typeface="Calibri"/>
              <a:sym typeface="Calibri"/>
            </a:endParaRPr>
          </a:p>
        </p:txBody>
      </p:sp>
      <p:sp>
        <p:nvSpPr>
          <p:cNvPr id="119" name="TextBox 118"/>
          <p:cNvSpPr txBox="1"/>
          <p:nvPr/>
        </p:nvSpPr>
        <p:spPr>
          <a:xfrm>
            <a:off x="548640" y="6053328"/>
            <a:ext cx="11064240" cy="153888"/>
          </a:xfrm>
          <a:prstGeom prst="rect">
            <a:avLst/>
          </a:prstGeom>
          <a:noFill/>
        </p:spPr>
        <p:txBody>
          <a:bodyPr wrap="square" lIns="0" tIns="0" rIns="0" bIns="0">
            <a:spAutoFit/>
          </a:bodyPr>
          <a:lstStyle/>
          <a:p>
            <a:pPr algn="l"/>
            <a:r>
              <a:rPr lang="en-US" sz="1000" b="0" i="0">
                <a:solidFill>
                  <a:srgbClr val="5B4636"/>
                </a:solidFill>
                <a:latin typeface="Calibri"/>
              </a:rPr>
              <a:t>A smoke detector, not a recorder. Every promise is checked by automated privacy tests on every change: PRIVACY.md on GitHub.</a:t>
            </a:r>
            <a:endParaRPr sz="1000" b="0" i="0">
              <a:solidFill>
                <a:srgbClr val="5B4636"/>
              </a:solidFill>
              <a:latin typeface="Calibri"/>
            </a:endParaRPr>
          </a:p>
        </p:txBody>
      </p:sp>
    </p:spTree>
    <p:extLst>
      <p:ext uri="{BB962C8B-B14F-4D97-AF65-F5344CB8AC3E}">
        <p14:creationId xmlns:p14="http://schemas.microsoft.com/office/powerpoint/2010/main" val="27945818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4"/>
          <p:cNvSpPr txBox="1">
            <a:spLocks noGrp="1"/>
          </p:cNvSpPr>
          <p:nvPr>
            <p:ph type="body" idx="1"/>
          </p:nvPr>
        </p:nvSpPr>
        <p:spPr>
          <a:xfrm>
            <a:off x="548640" y="384048"/>
            <a:ext cx="8229600" cy="292608"/>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accent1"/>
              </a:buClr>
              <a:buSzPts val="1200"/>
              <a:buNone/>
            </a:pPr>
            <a:r>
              <a:rPr lang="en-US" sz="1200" b="1" spc="300">
                <a:solidFill>
                  <a:schemeClr val="accent1"/>
                </a:solidFill>
              </a:rPr>
              <a:t>12  ·  HOW IT WORKS</a:t>
            </a:r>
            <a:endParaRPr sz="1200"/>
          </a:p>
        </p:txBody>
      </p:sp>
      <p:sp>
        <p:nvSpPr>
          <p:cNvPr id="106" name="Google Shape;106;p14"/>
          <p:cNvSpPr txBox="1">
            <a:spLocks noGrp="1"/>
          </p:cNvSpPr>
          <p:nvPr>
            <p:ph type="title"/>
          </p:nvPr>
        </p:nvSpPr>
        <p:spPr>
          <a:xfrm>
            <a:off x="548640" y="676656"/>
            <a:ext cx="950976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600"/>
              <a:buFont typeface="Cambria"/>
              <a:buNone/>
            </a:pPr>
            <a:r>
              <a:rPr lang="en-US" sz="3600" b="1">
                <a:solidFill>
                  <a:schemeClr val="dk1"/>
                </a:solidFill>
              </a:rPr>
              <a:t>How It Works</a:t>
            </a:r>
            <a:endParaRPr sz="3600"/>
          </a:p>
        </p:txBody>
      </p:sp>
      <p:sp>
        <p:nvSpPr>
          <p:cNvPr id="108" name="Google Shape;108;p14"/>
          <p:cNvSpPr txBox="1">
            <a:spLocks noGrp="1"/>
          </p:cNvSpPr>
          <p:nvPr>
            <p:ph type="sldNum" idx="4294967295"/>
          </p:nvPr>
        </p:nvSpPr>
        <p:spPr>
          <a:xfrm>
            <a:off x="11183112" y="6355080"/>
            <a:ext cx="457200" cy="27432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1000" b="0">
                <a:solidFill>
                  <a:schemeClr val="accent4"/>
                </a:solidFill>
                <a:latin typeface="Calibri"/>
                <a:ea typeface="Calibri"/>
                <a:cs typeface="Calibri"/>
                <a:sym typeface="Calibri"/>
              </a:rPr>
              <a:t>13</a:t>
            </a:r>
            <a:endParaRPr sz="1000">
              <a:solidFill>
                <a:schemeClr val="accent4"/>
              </a:solidFill>
              <a:latin typeface="Calibri"/>
              <a:ea typeface="Calibri"/>
              <a:cs typeface="Calibri"/>
              <a:sym typeface="Calibri"/>
            </a:endParaRPr>
          </a:p>
        </p:txBody>
      </p:sp>
      <p:sp>
        <p:nvSpPr>
          <p:cNvPr id="119" name="TextBox 118"/>
          <p:cNvSpPr txBox="1"/>
          <p:nvPr/>
        </p:nvSpPr>
        <p:spPr>
          <a:xfrm>
            <a:off x="548640" y="6053328"/>
            <a:ext cx="11064240" cy="153888"/>
          </a:xfrm>
          <a:prstGeom prst="rect">
            <a:avLst/>
          </a:prstGeom>
          <a:noFill/>
        </p:spPr>
        <p:txBody>
          <a:bodyPr wrap="square" lIns="0" tIns="0" rIns="0" bIns="0">
            <a:spAutoFit/>
          </a:bodyPr>
          <a:lstStyle/>
          <a:p>
            <a:pPr algn="l"/>
            <a:r>
              <a:rPr lang="en-US" sz="1000" b="0" i="0">
                <a:solidFill>
                  <a:srgbClr val="5B4636"/>
                </a:solidFill>
                <a:latin typeface="Calibri"/>
              </a:rPr>
              <a:t>Everything that touches the call stays inside the green box: on the device, nothing recorded, forgotten in 30 seconds.</a:t>
            </a:r>
            <a:endParaRPr sz="1000" b="0" i="0">
              <a:solidFill>
                <a:srgbClr val="5B4636"/>
              </a:solidFill>
              <a:latin typeface="Calibri"/>
            </a:endParaRPr>
          </a:p>
        </p:txBody>
      </p:sp>
      <p:sp>
        <p:nvSpPr>
          <p:cNvPr id="3" name="Text Placeholder 2">
            <a:extLst>
              <a:ext uri="{FF2B5EF4-FFF2-40B4-BE49-F238E27FC236}">
                <a16:creationId xmlns:a16="http://schemas.microsoft.com/office/drawing/2014/main" id="{181B2E91-E5C4-7B9E-0FED-297FFD3BF16F}"/>
              </a:ext>
            </a:extLst>
          </p:cNvPr>
          <p:cNvSpPr>
            <a:spLocks noGrp="1"/>
          </p:cNvSpPr>
          <p:nvPr>
            <p:ph type="body" idx="2"/>
          </p:nvPr>
        </p:nvSpPr>
        <p:spPr/>
        <p:txBody>
          <a:bodyPr/>
          <a:lstStyle/>
          <a:p>
            <a:endParaRPr lang="en-IN"/>
          </a:p>
        </p:txBody>
      </p:sp>
      <p:pic>
        <p:nvPicPr>
          <p:cNvPr id="5" name="Picture 4">
            <a:extLst>
              <a:ext uri="{FF2B5EF4-FFF2-40B4-BE49-F238E27FC236}">
                <a16:creationId xmlns:a16="http://schemas.microsoft.com/office/drawing/2014/main" id="{FDFC2E1E-F2FD-81BE-A767-A3FD34092D2B}"/>
              </a:ext>
            </a:extLst>
          </p:cNvPr>
          <p:cNvPicPr>
            <a:picLocks/>
          </p:cNvPicPr>
          <p:nvPr/>
        </p:nvPicPr>
        <p:blipFill>
          <a:blip r:embed="rId3"/>
          <a:stretch>
            <a:fillRect/>
          </a:stretch>
        </p:blipFill>
        <p:spPr>
          <a:xfrm>
            <a:off x="546100" y="1625600"/>
            <a:ext cx="9252857" cy="4318000"/>
          </a:xfrm>
          <a:prstGeom prst="rect">
            <a:avLst/>
          </a:prstGeom>
        </p:spPr>
      </p:pic>
    </p:spTree>
    <p:extLst>
      <p:ext uri="{BB962C8B-B14F-4D97-AF65-F5344CB8AC3E}">
        <p14:creationId xmlns:p14="http://schemas.microsoft.com/office/powerpoint/2010/main" val="18221174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4"/>
          <p:cNvSpPr txBox="1">
            <a:spLocks noGrp="1"/>
          </p:cNvSpPr>
          <p:nvPr>
            <p:ph type="body" idx="1"/>
          </p:nvPr>
        </p:nvSpPr>
        <p:spPr>
          <a:xfrm>
            <a:off x="548640" y="384048"/>
            <a:ext cx="8229600" cy="292608"/>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accent1"/>
              </a:buClr>
              <a:buSzPts val="1200"/>
              <a:buNone/>
            </a:pPr>
            <a:r>
              <a:rPr lang="en-US" sz="1200" b="1" spc="300">
                <a:solidFill>
                  <a:schemeClr val="accent1"/>
                </a:solidFill>
              </a:rPr>
              <a:t>13  ·  WHY NAZAR</a:t>
            </a:r>
            <a:endParaRPr sz="1200"/>
          </a:p>
        </p:txBody>
      </p:sp>
      <p:sp>
        <p:nvSpPr>
          <p:cNvPr id="106" name="Google Shape;106;p14"/>
          <p:cNvSpPr txBox="1">
            <a:spLocks noGrp="1"/>
          </p:cNvSpPr>
          <p:nvPr>
            <p:ph type="title"/>
          </p:nvPr>
        </p:nvSpPr>
        <p:spPr>
          <a:xfrm>
            <a:off x="548640" y="676656"/>
            <a:ext cx="950976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600"/>
              <a:buFont typeface="Cambria"/>
              <a:buNone/>
            </a:pPr>
            <a:r>
              <a:rPr lang="en-US" sz="3600" b="1">
                <a:solidFill>
                  <a:schemeClr val="dk1"/>
                </a:solidFill>
              </a:rPr>
              <a:t>Why Nazar</a:t>
            </a:r>
            <a:endParaRPr sz="3600"/>
          </a:p>
        </p:txBody>
      </p:sp>
      <p:sp>
        <p:nvSpPr>
          <p:cNvPr id="107" name="Google Shape;107;p14"/>
          <p:cNvSpPr txBox="1">
            <a:spLocks noGrp="1"/>
          </p:cNvSpPr>
          <p:nvPr>
            <p:ph type="body" idx="2"/>
          </p:nvPr>
        </p:nvSpPr>
        <p:spPr>
          <a:xfrm>
            <a:off x="548640" y="1783080"/>
            <a:ext cx="11061700" cy="4160520"/>
          </a:xfrm>
          <a:prstGeom prst="rect">
            <a:avLst/>
          </a:prstGeom>
          <a:noFill/>
          <a:ln>
            <a:noFill/>
          </a:ln>
        </p:spPr>
        <p:txBody>
          <a:bodyPr spcFirstLastPara="1" wrap="square" lIns="0" tIns="0" rIns="0" bIns="0" anchor="t" anchorCtr="0">
            <a:noAutofit/>
          </a:bodyPr>
          <a:lstStyle/>
          <a:p>
            <a:pPr marL="320040" indent="-320040" algn="l">
              <a:spcBef>
                <a:spcPts val="0"/>
              </a:spcBef>
              <a:buClr>
                <a:schemeClr val="accent1"/>
              </a:buClr>
              <a:buSzPts val="1300"/>
              <a:buFont typeface="Arial"/>
              <a:buChar char="◆"/>
            </a:pPr>
            <a:r>
              <a:rPr lang="en-US" sz="1700" b="1">
                <a:solidFill>
                  <a:schemeClr val="dk1"/>
                </a:solidFill>
              </a:rPr>
              <a:t>Innovation</a:t>
            </a:r>
          </a:p>
          <a:p>
            <a:pPr marL="320040" indent="0" algn="l">
              <a:spcBef>
                <a:spcPts val="200"/>
              </a:spcBef>
              <a:buNone/>
            </a:pPr>
            <a:r>
              <a:rPr lang="en-US" sz="1400">
                <a:solidFill>
                  <a:schemeClr val="dk2"/>
                </a:solidFill>
              </a:rPr>
              <a:t>Recognises the scam script itself (five steps, in order) live during the call, in Hindi, English and Punjabi, instead of blocking numbers after the damage is done.</a:t>
            </a:r>
          </a:p>
          <a:p>
            <a:pPr marL="320040" indent="-320040" algn="l">
              <a:spcBef>
                <a:spcPts val="900"/>
              </a:spcBef>
              <a:buClr>
                <a:schemeClr val="accent1"/>
              </a:buClr>
              <a:buSzPts val="1300"/>
              <a:buFont typeface="Arial"/>
              <a:buChar char="◆"/>
            </a:pPr>
            <a:r>
              <a:rPr lang="en-US" sz="1700" b="1">
                <a:solidFill>
                  <a:schemeClr val="dk1"/>
                </a:solidFill>
              </a:rPr>
              <a:t>Implementation</a:t>
            </a:r>
          </a:p>
          <a:p>
            <a:pPr marL="320040" indent="0" algn="l">
              <a:spcBef>
                <a:spcPts val="200"/>
              </a:spcBef>
              <a:buNone/>
            </a:pPr>
            <a:r>
              <a:rPr lang="en-US" sz="1400">
                <a:solidFill>
                  <a:schemeClr val="dk2"/>
                </a:solidFill>
              </a:rPr>
              <a:t>On-device Whisper large-v3-turbo on GPU with a FastAPI WebSocket server; rule-based detector with script folding; six test suites and privacy tests run by GitHub Actions on every change.</a:t>
            </a:r>
          </a:p>
          <a:p>
            <a:pPr marL="320040" indent="-320040" algn="l">
              <a:spcBef>
                <a:spcPts val="900"/>
              </a:spcBef>
              <a:buClr>
                <a:schemeClr val="accent1"/>
              </a:buClr>
              <a:buSzPts val="1300"/>
              <a:buFont typeface="Arial"/>
              <a:buChar char="◆"/>
            </a:pPr>
            <a:r>
              <a:rPr lang="en-US" sz="1700" b="1">
                <a:solidFill>
                  <a:schemeClr val="dk1"/>
                </a:solidFill>
              </a:rPr>
              <a:t>Functionality</a:t>
            </a:r>
          </a:p>
          <a:p>
            <a:pPr marL="320040" indent="0" algn="l">
              <a:spcBef>
                <a:spcPts val="200"/>
              </a:spcBef>
              <a:buNone/>
            </a:pPr>
            <a:r>
              <a:rPr lang="en-US" sz="1400">
                <a:solidFill>
                  <a:schemeClr val="dk2"/>
                </a:solidFill>
              </a:rPr>
              <a:t>Works end to end today: live mic, alarm before money is asked (54 of 54 scam calls), spoken warning, family alert, complaint report, offline, installable, and a live website.</a:t>
            </a:r>
          </a:p>
          <a:p>
            <a:pPr marL="320040" indent="-320040" algn="l">
              <a:spcBef>
                <a:spcPts val="900"/>
              </a:spcBef>
              <a:buClr>
                <a:schemeClr val="accent1"/>
              </a:buClr>
              <a:buSzPts val="1300"/>
              <a:buFont typeface="Arial"/>
              <a:buChar char="◆"/>
            </a:pPr>
            <a:r>
              <a:rPr lang="en-US" sz="1700" b="1">
                <a:solidFill>
                  <a:schemeClr val="dk1"/>
                </a:solidFill>
              </a:rPr>
              <a:t>Impact</a:t>
            </a:r>
          </a:p>
          <a:p>
            <a:pPr marL="320040" indent="0" algn="l">
              <a:spcBef>
                <a:spcPts val="200"/>
              </a:spcBef>
              <a:buNone/>
            </a:pPr>
            <a:r>
              <a:rPr lang="en-US" sz="1400">
                <a:solidFill>
                  <a:schemeClr val="dk2"/>
                </a:solidFill>
              </a:rPr>
              <a:t>Digital-arrest scams target older people and their savings. Nazar warns in their language, brings in family, and keeps the call private, so people can trust it on every call.</a:t>
            </a:r>
          </a:p>
        </p:txBody>
      </p:sp>
      <p:sp>
        <p:nvSpPr>
          <p:cNvPr id="108" name="Google Shape;108;p14"/>
          <p:cNvSpPr txBox="1">
            <a:spLocks noGrp="1"/>
          </p:cNvSpPr>
          <p:nvPr>
            <p:ph type="sldNum" idx="4294967295"/>
          </p:nvPr>
        </p:nvSpPr>
        <p:spPr>
          <a:xfrm>
            <a:off x="11183112" y="6355080"/>
            <a:ext cx="457200" cy="27432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1000" b="0">
                <a:solidFill>
                  <a:schemeClr val="accent4"/>
                </a:solidFill>
                <a:latin typeface="Calibri"/>
                <a:ea typeface="Calibri"/>
                <a:cs typeface="Calibri"/>
                <a:sym typeface="Calibri"/>
              </a:rPr>
              <a:t>14</a:t>
            </a:r>
            <a:endParaRPr sz="1000">
              <a:solidFill>
                <a:schemeClr val="accent4"/>
              </a:solidFill>
              <a:latin typeface="Calibri"/>
              <a:ea typeface="Calibri"/>
              <a:cs typeface="Calibri"/>
              <a:sym typeface="Calibri"/>
            </a:endParaRPr>
          </a:p>
        </p:txBody>
      </p:sp>
      <p:sp>
        <p:nvSpPr>
          <p:cNvPr id="119" name="TextBox 118"/>
          <p:cNvSpPr txBox="1"/>
          <p:nvPr/>
        </p:nvSpPr>
        <p:spPr>
          <a:xfrm>
            <a:off x="548640" y="6053328"/>
            <a:ext cx="11064240" cy="153888"/>
          </a:xfrm>
          <a:prstGeom prst="rect">
            <a:avLst/>
          </a:prstGeom>
          <a:noFill/>
        </p:spPr>
        <p:txBody>
          <a:bodyPr wrap="square" lIns="0" tIns="0" rIns="0" bIns="0">
            <a:spAutoFit/>
          </a:bodyPr>
          <a:lstStyle/>
          <a:p>
            <a:pPr algn="l"/>
            <a:r>
              <a:rPr lang="en-US" sz="1000" b="0" i="0">
                <a:solidFill>
                  <a:srgbClr val="5B4636"/>
                </a:solidFill>
                <a:latin typeface="Calibri"/>
              </a:rPr>
              <a:t>Code: github.com/Kunal039/Nazar_CodeVators   ·   Website: nazar-codevators.vercel.app</a:t>
            </a:r>
            <a:endParaRPr sz="1000" b="0" i="0">
              <a:solidFill>
                <a:srgbClr val="5B4636"/>
              </a:solidFill>
              <a:latin typeface="Calibri"/>
            </a:endParaRPr>
          </a:p>
        </p:txBody>
      </p:sp>
    </p:spTree>
    <p:extLst>
      <p:ext uri="{BB962C8B-B14F-4D97-AF65-F5344CB8AC3E}">
        <p14:creationId xmlns:p14="http://schemas.microsoft.com/office/powerpoint/2010/main" val="42195953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5"/>
          <p:cNvSpPr txBox="1">
            <a:spLocks noGrp="1"/>
          </p:cNvSpPr>
          <p:nvPr>
            <p:ph type="body" idx="1"/>
          </p:nvPr>
        </p:nvSpPr>
        <p:spPr>
          <a:xfrm>
            <a:off x="548640" y="384048"/>
            <a:ext cx="8229600" cy="292608"/>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accent1"/>
              </a:buClr>
              <a:buSzPts val="1200"/>
              <a:buNone/>
            </a:pPr>
            <a:r>
              <a:rPr lang="en-US" sz="1200" b="1" spc="300">
                <a:solidFill>
                  <a:schemeClr val="accent1"/>
                </a:solidFill>
              </a:rPr>
              <a:t>14  ·  EXPECTED IMPACT &amp; FUTURE SCOPE  ·  OPTIONAL</a:t>
            </a:r>
            <a:endParaRPr sz="1200"/>
          </a:p>
        </p:txBody>
      </p:sp>
      <p:sp>
        <p:nvSpPr>
          <p:cNvPr id="115" name="Google Shape;115;p15"/>
          <p:cNvSpPr txBox="1">
            <a:spLocks noGrp="1"/>
          </p:cNvSpPr>
          <p:nvPr>
            <p:ph type="title"/>
          </p:nvPr>
        </p:nvSpPr>
        <p:spPr>
          <a:xfrm>
            <a:off x="548640" y="676656"/>
            <a:ext cx="950976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600"/>
              <a:buFont typeface="Cambria"/>
              <a:buNone/>
            </a:pPr>
            <a:r>
              <a:rPr lang="en-US" sz="3600" b="1">
                <a:solidFill>
                  <a:schemeClr val="dk1"/>
                </a:solidFill>
              </a:rPr>
              <a:t>Expected Impact &amp; Future Scope</a:t>
            </a:r>
            <a:endParaRPr sz="3600"/>
          </a:p>
        </p:txBody>
      </p:sp>
      <p:sp>
        <p:nvSpPr>
          <p:cNvPr id="116" name="Google Shape;116;p15"/>
          <p:cNvSpPr txBox="1">
            <a:spLocks noGrp="1"/>
          </p:cNvSpPr>
          <p:nvPr>
            <p:ph type="body" idx="2"/>
          </p:nvPr>
        </p:nvSpPr>
        <p:spPr>
          <a:xfrm>
            <a:off x="548640" y="1783080"/>
            <a:ext cx="6766560" cy="3749039"/>
          </a:xfrm>
          <a:prstGeom prst="rect">
            <a:avLst/>
          </a:prstGeom>
          <a:noFill/>
          <a:ln>
            <a:noFill/>
          </a:ln>
        </p:spPr>
        <p:txBody>
          <a:bodyPr spcFirstLastPara="1" wrap="square" lIns="0" tIns="0" rIns="0" bIns="0" anchor="t" anchorCtr="0">
            <a:noAutofit/>
          </a:bodyPr>
          <a:lstStyle/>
          <a:p>
            <a:pPr marL="320040" indent="-320040" algn="l">
              <a:spcBef>
                <a:spcPts val="0"/>
              </a:spcBef>
              <a:buClr>
                <a:schemeClr val="accent1"/>
              </a:buClr>
              <a:buSzPts val="1300"/>
              <a:buFont typeface="Arial"/>
              <a:buChar char="◆"/>
            </a:pPr>
            <a:r>
              <a:rPr lang="en-US" sz="1700" b="1">
                <a:solidFill>
                  <a:schemeClr val="dk1"/>
                </a:solidFill>
              </a:rPr>
              <a:t>Target Impact</a:t>
            </a:r>
          </a:p>
          <a:p>
            <a:pPr marL="320040" indent="0" algn="l">
              <a:spcBef>
                <a:spcPts val="200"/>
              </a:spcBef>
              <a:buNone/>
            </a:pPr>
            <a:r>
              <a:rPr lang="en-US" sz="1400">
                <a:solidFill>
                  <a:schemeClr val="dk2"/>
                </a:solidFill>
              </a:rPr>
              <a:t>Stop scam calls before money moves, starting with senior citizens and their families. Impact will be measured in pilots by scams caught and false alarms.</a:t>
            </a:r>
          </a:p>
          <a:p>
            <a:pPr marL="320040" indent="-320040" algn="l">
              <a:spcBef>
                <a:spcPts val="900"/>
              </a:spcBef>
              <a:buClr>
                <a:schemeClr val="accent1"/>
              </a:buClr>
              <a:buSzPts val="1300"/>
              <a:buFont typeface="Arial"/>
              <a:buChar char="◆"/>
            </a:pPr>
            <a:r>
              <a:rPr lang="en-US" sz="1700" b="1">
                <a:solidFill>
                  <a:schemeClr val="dk1"/>
                </a:solidFill>
              </a:rPr>
              <a:t>Potential Benefits</a:t>
            </a:r>
          </a:p>
          <a:p>
            <a:pPr marL="320040" indent="0" algn="l">
              <a:spcBef>
                <a:spcPts val="200"/>
              </a:spcBef>
              <a:buNone/>
            </a:pPr>
            <a:r>
              <a:rPr lang="en-US" sz="1400">
                <a:solidFill>
                  <a:schemeClr val="dk2"/>
                </a:solidFill>
              </a:rPr>
              <a:t>Families: peace of mind and protected savings. Banks and telecom operators: fewer fraud cases and a protection feature to offer (expected, to be tested).</a:t>
            </a:r>
          </a:p>
          <a:p>
            <a:pPr marL="320040" indent="-320040" algn="l">
              <a:spcBef>
                <a:spcPts val="900"/>
              </a:spcBef>
              <a:buClr>
                <a:schemeClr val="accent1"/>
              </a:buClr>
              <a:buSzPts val="1300"/>
              <a:buFont typeface="Arial"/>
              <a:buChar char="◆"/>
            </a:pPr>
            <a:r>
              <a:rPr lang="en-US" sz="1700" b="1">
                <a:solidFill>
                  <a:schemeClr val="dk1"/>
                </a:solidFill>
              </a:rPr>
              <a:t>Scalability</a:t>
            </a:r>
          </a:p>
          <a:p>
            <a:pPr marL="320040" indent="0" algn="l">
              <a:spcBef>
                <a:spcPts val="200"/>
              </a:spcBef>
              <a:buNone/>
            </a:pPr>
            <a:r>
              <a:rPr lang="en-US" sz="1400">
                <a:solidFill>
                  <a:schemeClr val="dk2"/>
                </a:solidFill>
              </a:rPr>
              <a:t>Free tools on a normal laptop. The same engine can move to phones through a dialer or telecom partner [10][11]. MuRIL covers 17 Indian languages [9].</a:t>
            </a:r>
          </a:p>
          <a:p>
            <a:pPr marL="320040" indent="-320040" algn="l">
              <a:spcBef>
                <a:spcPts val="900"/>
              </a:spcBef>
              <a:buClr>
                <a:schemeClr val="accent1"/>
              </a:buClr>
              <a:buSzPts val="1300"/>
              <a:buFont typeface="Arial"/>
              <a:buChar char="◆"/>
            </a:pPr>
            <a:r>
              <a:rPr lang="en-US" sz="1700" b="1">
                <a:solidFill>
                  <a:schemeClr val="dk1"/>
                </a:solidFill>
              </a:rPr>
              <a:t>Future Possibilities</a:t>
            </a:r>
          </a:p>
          <a:p>
            <a:pPr marL="320040" indent="0" algn="l">
              <a:spcBef>
                <a:spcPts val="200"/>
              </a:spcBef>
              <a:buNone/>
            </a:pPr>
            <a:r>
              <a:rPr lang="en-US" sz="1400">
                <a:solidFill>
                  <a:schemeClr val="dk2"/>
                </a:solidFill>
              </a:rPr>
              <a:t>WhatsApp and video calls, SMS and link checks, one-tap report to the 1930 helpline [4], a bank link to pause risky transfers, anonymised scam trends for cyber-crime teams, a fully offline mode.</a:t>
            </a:r>
          </a:p>
        </p:txBody>
      </p:sp>
      <p:sp>
        <p:nvSpPr>
          <p:cNvPr id="117" name="Google Shape;117;p15"/>
          <p:cNvSpPr txBox="1">
            <a:spLocks noGrp="1"/>
          </p:cNvSpPr>
          <p:nvPr>
            <p:ph type="sldNum" idx="4294967295"/>
          </p:nvPr>
        </p:nvSpPr>
        <p:spPr>
          <a:xfrm>
            <a:off x="11183112" y="6355080"/>
            <a:ext cx="457200" cy="27432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1000" b="0">
                <a:solidFill>
                  <a:schemeClr val="accent4"/>
                </a:solidFill>
                <a:latin typeface="Calibri"/>
                <a:ea typeface="Calibri"/>
                <a:cs typeface="Calibri"/>
                <a:sym typeface="Calibri"/>
              </a:rPr>
              <a:t>15</a:t>
            </a:r>
            <a:endParaRPr sz="1000">
              <a:solidFill>
                <a:schemeClr val="accent4"/>
              </a:solidFill>
              <a:latin typeface="Calibri"/>
              <a:ea typeface="Calibri"/>
              <a:cs typeface="Calibri"/>
              <a:sym typeface="Calibri"/>
            </a:endParaRPr>
          </a:p>
        </p:txBody>
      </p:sp>
      <p:sp>
        <p:nvSpPr>
          <p:cNvPr id="118" name="TextBox 117"/>
          <p:cNvSpPr txBox="1"/>
          <p:nvPr/>
        </p:nvSpPr>
        <p:spPr>
          <a:xfrm>
            <a:off x="7680960" y="1737360"/>
            <a:ext cx="3931920" cy="274320"/>
          </a:xfrm>
          <a:prstGeom prst="rect">
            <a:avLst/>
          </a:prstGeom>
          <a:noFill/>
        </p:spPr>
        <p:txBody>
          <a:bodyPr wrap="square" lIns="0" tIns="0" rIns="0" bIns="0">
            <a:spAutoFit/>
          </a:bodyPr>
          <a:lstStyle/>
          <a:p>
            <a:pPr algn="l"/>
            <a:r>
              <a:rPr sz="1400" b="1" i="0">
                <a:solidFill>
                  <a:srgbClr val="1E1612"/>
                </a:solidFill>
                <a:latin typeface="Calibri"/>
              </a:rPr>
              <a:t>Growth path</a:t>
            </a:r>
          </a:p>
        </p:txBody>
      </p:sp>
      <p:sp>
        <p:nvSpPr>
          <p:cNvPr id="119" name="Rectangle 118"/>
          <p:cNvSpPr/>
          <p:nvPr/>
        </p:nvSpPr>
        <p:spPr>
          <a:xfrm>
            <a:off x="7680960" y="2103120"/>
            <a:ext cx="3931920" cy="713232"/>
          </a:xfrm>
          <a:prstGeom prst="rect">
            <a:avLst/>
          </a:prstGeom>
          <a:solidFill>
            <a:srgbClr val="4A3B32"/>
          </a:solidFill>
          <a:ln>
            <a:noFill/>
          </a:ln>
          <a:effectLst/>
        </p:spPr>
        <p:txBody>
          <a:bodyPr wrap="square" tIns="36576" bIns="36576" rtlCol="0" anchor="ctr"/>
          <a:lstStyle/>
          <a:p>
            <a:pPr algn="l"/>
            <a:r>
              <a:rPr sz="1200" b="1">
                <a:solidFill>
                  <a:srgbClr val="F2C27A"/>
                </a:solidFill>
                <a:latin typeface="Calibri"/>
              </a:rPr>
              <a:t>Now
</a:t>
            </a:r>
            <a:r>
              <a:rPr lang="en-IN" sz="1200" b="0">
                <a:solidFill>
                  <a:srgbClr val="FFFFFF"/>
                </a:solidFill>
                <a:latin typeface="Calibri"/>
              </a:rPr>
              <a:t>Live web prototype: nazar-codevators.vercel.app</a:t>
            </a:r>
            <a:endParaRPr sz="1200" b="0">
              <a:solidFill>
                <a:srgbClr val="FFFFFF"/>
              </a:solidFill>
              <a:latin typeface="Calibri"/>
            </a:endParaRPr>
          </a:p>
        </p:txBody>
      </p:sp>
      <p:cxnSp>
        <p:nvCxnSpPr>
          <p:cNvPr id="120" name="Connector 119"/>
          <p:cNvCxnSpPr/>
          <p:nvPr/>
        </p:nvCxnSpPr>
        <p:spPr>
          <a:xfrm>
            <a:off x="9646920" y="2816352"/>
            <a:ext cx="0" cy="155448"/>
          </a:xfrm>
          <a:prstGeom prst="line">
            <a:avLst/>
          </a:prstGeom>
          <a:ln w="19050">
            <a:solidFill>
              <a:srgbClr val="5B4636"/>
            </a:solidFill>
            <a:tailEnd type="triangle"/>
          </a:ln>
        </p:spPr>
      </p:cxnSp>
      <p:sp>
        <p:nvSpPr>
          <p:cNvPr id="121" name="Rectangle 120"/>
          <p:cNvSpPr/>
          <p:nvPr/>
        </p:nvSpPr>
        <p:spPr>
          <a:xfrm>
            <a:off x="7680960" y="2971800"/>
            <a:ext cx="3931920" cy="713232"/>
          </a:xfrm>
          <a:prstGeom prst="rect">
            <a:avLst/>
          </a:prstGeom>
          <a:solidFill>
            <a:srgbClr val="5B4636"/>
          </a:solidFill>
          <a:ln>
            <a:noFill/>
          </a:ln>
          <a:effectLst/>
        </p:spPr>
        <p:txBody>
          <a:bodyPr wrap="square" tIns="36576" bIns="36576" rtlCol="0" anchor="ctr"/>
          <a:lstStyle/>
          <a:p>
            <a:pPr algn="l"/>
            <a:r>
              <a:rPr sz="1200" b="1">
                <a:solidFill>
                  <a:srgbClr val="F2C27A"/>
                </a:solidFill>
                <a:latin typeface="Calibri"/>
              </a:rPr>
              <a:t>Next, 0 to 6 months
</a:t>
            </a:r>
            <a:r>
              <a:rPr sz="1200" b="0">
                <a:solidFill>
                  <a:srgbClr val="FFFFFF"/>
                </a:solidFill>
                <a:latin typeface="Calibri"/>
              </a:rPr>
              <a:t>Pilots with senior-citizen groups; Android app with a partner</a:t>
            </a:r>
          </a:p>
        </p:txBody>
      </p:sp>
      <p:cxnSp>
        <p:nvCxnSpPr>
          <p:cNvPr id="122" name="Connector 121"/>
          <p:cNvCxnSpPr/>
          <p:nvPr/>
        </p:nvCxnSpPr>
        <p:spPr>
          <a:xfrm>
            <a:off x="9646920" y="3685032"/>
            <a:ext cx="0" cy="155448"/>
          </a:xfrm>
          <a:prstGeom prst="line">
            <a:avLst/>
          </a:prstGeom>
          <a:ln w="19050">
            <a:solidFill>
              <a:srgbClr val="5B4636"/>
            </a:solidFill>
            <a:tailEnd type="triangle"/>
          </a:ln>
        </p:spPr>
      </p:cxnSp>
      <p:sp>
        <p:nvSpPr>
          <p:cNvPr id="123" name="Rectangle 122"/>
          <p:cNvSpPr/>
          <p:nvPr/>
        </p:nvSpPr>
        <p:spPr>
          <a:xfrm>
            <a:off x="7680960" y="3840479"/>
            <a:ext cx="3931920" cy="713232"/>
          </a:xfrm>
          <a:prstGeom prst="rect">
            <a:avLst/>
          </a:prstGeom>
          <a:solidFill>
            <a:srgbClr val="4A3B32"/>
          </a:solidFill>
          <a:ln>
            <a:noFill/>
          </a:ln>
          <a:effectLst/>
        </p:spPr>
        <p:txBody>
          <a:bodyPr wrap="square" tIns="36576" bIns="36576" rtlCol="0" anchor="ctr"/>
          <a:lstStyle/>
          <a:p>
            <a:pPr algn="l"/>
            <a:r>
              <a:rPr sz="1200" b="1">
                <a:solidFill>
                  <a:srgbClr val="F2C27A"/>
                </a:solidFill>
                <a:latin typeface="Calibri"/>
              </a:rPr>
              <a:t>Later, 6 to 18 months
</a:t>
            </a:r>
            <a:r>
              <a:rPr sz="1200" b="0">
                <a:solidFill>
                  <a:srgbClr val="FFFFFF"/>
                </a:solidFill>
                <a:latin typeface="Calibri"/>
              </a:rPr>
              <a:t>Banks, payment apps and telecom operators</a:t>
            </a:r>
          </a:p>
        </p:txBody>
      </p:sp>
      <p:cxnSp>
        <p:nvCxnSpPr>
          <p:cNvPr id="124" name="Connector 123"/>
          <p:cNvCxnSpPr/>
          <p:nvPr/>
        </p:nvCxnSpPr>
        <p:spPr>
          <a:xfrm>
            <a:off x="9646920" y="4553712"/>
            <a:ext cx="0" cy="155447"/>
          </a:xfrm>
          <a:prstGeom prst="line">
            <a:avLst/>
          </a:prstGeom>
          <a:ln w="19050">
            <a:solidFill>
              <a:srgbClr val="5B4636"/>
            </a:solidFill>
            <a:tailEnd type="triangle"/>
          </a:ln>
        </p:spPr>
      </p:cxnSp>
      <p:sp>
        <p:nvSpPr>
          <p:cNvPr id="125" name="Rectangle 124"/>
          <p:cNvSpPr/>
          <p:nvPr/>
        </p:nvSpPr>
        <p:spPr>
          <a:xfrm>
            <a:off x="7680960" y="4709159"/>
            <a:ext cx="3931920" cy="713232"/>
          </a:xfrm>
          <a:prstGeom prst="rect">
            <a:avLst/>
          </a:prstGeom>
          <a:solidFill>
            <a:srgbClr val="5B4636"/>
          </a:solidFill>
          <a:ln>
            <a:noFill/>
          </a:ln>
          <a:effectLst/>
        </p:spPr>
        <p:txBody>
          <a:bodyPr wrap="square" tIns="36576" bIns="36576" rtlCol="0" anchor="ctr"/>
          <a:lstStyle/>
          <a:p>
            <a:pPr algn="l"/>
            <a:r>
              <a:rPr sz="1200" b="1">
                <a:solidFill>
                  <a:srgbClr val="F2C27A"/>
                </a:solidFill>
                <a:latin typeface="Calibri"/>
              </a:rPr>
              <a:t>Long term
</a:t>
            </a:r>
            <a:r>
              <a:rPr sz="1200" b="0">
                <a:solidFill>
                  <a:srgbClr val="FFFFFF"/>
                </a:solidFill>
                <a:latin typeface="Calibri"/>
              </a:rPr>
              <a:t>More languages, offline mode, scam-trend feed</a:t>
            </a:r>
          </a:p>
        </p:txBody>
      </p:sp>
      <p:sp>
        <p:nvSpPr>
          <p:cNvPr id="126" name="Rectangle 125"/>
          <p:cNvSpPr/>
          <p:nvPr/>
        </p:nvSpPr>
        <p:spPr>
          <a:xfrm>
            <a:off x="548640" y="5532120"/>
            <a:ext cx="11064240" cy="457200"/>
          </a:xfrm>
          <a:prstGeom prst="rect">
            <a:avLst/>
          </a:prstGeom>
          <a:solidFill>
            <a:srgbClr val="C9962B"/>
          </a:solidFill>
          <a:ln>
            <a:noFill/>
          </a:ln>
          <a:effectLst/>
        </p:spPr>
        <p:txBody>
          <a:bodyPr wrap="square" tIns="36576" bIns="36576" rtlCol="0" anchor="ctr"/>
          <a:lstStyle/>
          <a:p>
            <a:pPr algn="l"/>
            <a:r>
              <a:rPr sz="1300" b="1">
                <a:solidFill>
                  <a:srgbClr val="1E1612"/>
                </a:solidFill>
                <a:latin typeface="Calibri"/>
              </a:rPr>
              <a:t>How it can earn: </a:t>
            </a:r>
            <a:r>
              <a:rPr sz="1300" b="0">
                <a:solidFill>
                  <a:srgbClr val="1E1612"/>
                </a:solidFill>
                <a:latin typeface="Calibri"/>
              </a:rPr>
              <a:t>free for families to build trust; banks, payment apps and telecom operators pay a licence or per-user fee. Pricing and partner interest are not yet validated.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Google Shape;114;p15"/>
          <p:cNvSpPr txBox="1">
            <a:spLocks noGrp="1"/>
          </p:cNvSpPr>
          <p:nvPr>
            <p:ph type="body" idx="1"/>
          </p:nvPr>
        </p:nvSpPr>
        <p:spPr>
          <a:xfrm>
            <a:off x="548640" y="384048"/>
            <a:ext cx="8229600" cy="292608"/>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accent1"/>
              </a:buClr>
              <a:buSzPts val="1200"/>
              <a:buNone/>
            </a:pPr>
            <a:r>
              <a:rPr lang="en-US" sz="1200" b="1" spc="300">
                <a:solidFill>
                  <a:schemeClr val="accent1"/>
                </a:solidFill>
              </a:rPr>
              <a:t>15  ·  REFERENCES</a:t>
            </a:r>
            <a:endParaRPr sz="1200"/>
          </a:p>
        </p:txBody>
      </p:sp>
      <p:sp>
        <p:nvSpPr>
          <p:cNvPr id="115" name="Google Shape;115;p15"/>
          <p:cNvSpPr txBox="1">
            <a:spLocks noGrp="1"/>
          </p:cNvSpPr>
          <p:nvPr>
            <p:ph type="title"/>
          </p:nvPr>
        </p:nvSpPr>
        <p:spPr>
          <a:xfrm>
            <a:off x="548640" y="676656"/>
            <a:ext cx="950976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600"/>
              <a:buFont typeface="Cambria"/>
              <a:buNone/>
            </a:pPr>
            <a:r>
              <a:rPr lang="en-US" sz="3600" b="1">
                <a:solidFill>
                  <a:schemeClr val="dk1"/>
                </a:solidFill>
              </a:rPr>
              <a:t>References</a:t>
            </a:r>
            <a:endParaRPr sz="3600"/>
          </a:p>
        </p:txBody>
      </p:sp>
      <p:sp>
        <p:nvSpPr>
          <p:cNvPr id="117" name="Google Shape;117;p15"/>
          <p:cNvSpPr txBox="1">
            <a:spLocks noGrp="1"/>
          </p:cNvSpPr>
          <p:nvPr>
            <p:ph type="sldNum" idx="4294967295"/>
          </p:nvPr>
        </p:nvSpPr>
        <p:spPr>
          <a:xfrm>
            <a:off x="11183112" y="6355080"/>
            <a:ext cx="457200" cy="27432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1000" b="0">
                <a:solidFill>
                  <a:schemeClr val="accent4"/>
                </a:solidFill>
                <a:latin typeface="Calibri"/>
                <a:ea typeface="Calibri"/>
                <a:cs typeface="Calibri"/>
                <a:sym typeface="Calibri"/>
              </a:rPr>
              <a:t>16</a:t>
            </a:r>
            <a:endParaRPr sz="1000">
              <a:solidFill>
                <a:schemeClr val="accent4"/>
              </a:solidFill>
              <a:latin typeface="Calibri"/>
              <a:ea typeface="Calibri"/>
              <a:cs typeface="Calibri"/>
              <a:sym typeface="Calibri"/>
            </a:endParaRPr>
          </a:p>
        </p:txBody>
      </p:sp>
      <p:sp>
        <p:nvSpPr>
          <p:cNvPr id="118" name="TextBox 117"/>
          <p:cNvSpPr txBox="1"/>
          <p:nvPr/>
        </p:nvSpPr>
        <p:spPr>
          <a:xfrm>
            <a:off x="548640" y="1645920"/>
            <a:ext cx="5394960" cy="4389120"/>
          </a:xfrm>
          <a:prstGeom prst="rect">
            <a:avLst/>
          </a:prstGeom>
          <a:noFill/>
        </p:spPr>
        <p:txBody>
          <a:bodyPr wrap="square" lIns="0" tIns="0" rIns="0" bIns="0">
            <a:spAutoFit/>
          </a:bodyPr>
          <a:lstStyle/>
          <a:p>
            <a:pPr>
              <a:spcBef>
                <a:spcPts val="0"/>
              </a:spcBef>
            </a:pPr>
            <a:r>
              <a:rPr sz="1250" b="1">
                <a:solidFill>
                  <a:srgbClr val="E0701B"/>
                </a:solidFill>
                <a:latin typeface="Calibri"/>
              </a:rPr>
              <a:t>[1] </a:t>
            </a:r>
            <a:r>
              <a:rPr sz="1250">
                <a:solidFill>
                  <a:srgbClr val="1E1612"/>
                </a:solidFill>
                <a:latin typeface="Calibri"/>
              </a:rPr>
              <a:t>Scroll.in, “Over 38 lakh cyber fraud complaints in India since 2021: Centre” (reply to Parliament, March 2025)</a:t>
            </a:r>
          </a:p>
          <a:p>
            <a:pPr>
              <a:spcBef>
                <a:spcPts val="100"/>
              </a:spcBef>
            </a:pPr>
            <a:r>
              <a:rPr sz="1050">
                <a:solidFill>
                  <a:srgbClr val="5B4636"/>
                </a:solidFill>
                <a:latin typeface="Calibri"/>
              </a:rPr>
              <a:t>https://scroll.in/latest/1080247/scroll_in</a:t>
            </a:r>
          </a:p>
          <a:p>
            <a:pPr>
              <a:spcBef>
                <a:spcPts val="1000"/>
              </a:spcBef>
            </a:pPr>
            <a:r>
              <a:rPr sz="1250" b="1">
                <a:solidFill>
                  <a:srgbClr val="E0701B"/>
                </a:solidFill>
                <a:latin typeface="Calibri"/>
              </a:rPr>
              <a:t>[2] </a:t>
            </a:r>
            <a:r>
              <a:rPr sz="1250">
                <a:solidFill>
                  <a:srgbClr val="1E1612"/>
                </a:solidFill>
                <a:latin typeface="Calibri"/>
              </a:rPr>
              <a:t>Inc42, “Indians Lost INR 1,935 Cr To Digital Arrest Scams In 2024: Govt”</a:t>
            </a:r>
          </a:p>
          <a:p>
            <a:pPr>
              <a:spcBef>
                <a:spcPts val="100"/>
              </a:spcBef>
            </a:pPr>
            <a:r>
              <a:rPr sz="1050">
                <a:solidFill>
                  <a:srgbClr val="5B4636"/>
                </a:solidFill>
                <a:latin typeface="Calibri"/>
              </a:rPr>
              <a:t>https://inc42.com/?p=504907</a:t>
            </a:r>
          </a:p>
          <a:p>
            <a:pPr>
              <a:spcBef>
                <a:spcPts val="1000"/>
              </a:spcBef>
            </a:pPr>
            <a:r>
              <a:rPr sz="1250" b="1">
                <a:solidFill>
                  <a:srgbClr val="E0701B"/>
                </a:solidFill>
                <a:latin typeface="Calibri"/>
              </a:rPr>
              <a:t>[3] </a:t>
            </a:r>
            <a:r>
              <a:rPr sz="1250">
                <a:solidFill>
                  <a:srgbClr val="1E1612"/>
                </a:solidFill>
                <a:latin typeface="Calibri"/>
              </a:rPr>
              <a:t>Moneylife, “Fraud Alert: India Is Losing over ₹22,000 Crore a Year in Cyber Scams”</a:t>
            </a:r>
          </a:p>
          <a:p>
            <a:pPr>
              <a:spcBef>
                <a:spcPts val="100"/>
              </a:spcBef>
            </a:pPr>
            <a:r>
              <a:rPr sz="1050">
                <a:solidFill>
                  <a:srgbClr val="5B4636"/>
                </a:solidFill>
                <a:latin typeface="Calibri"/>
              </a:rPr>
              <a:t>https://moneylife.in/article/fraud-alert-india-is-losing-over-22000-crore-a-year-in-cyber-scams-and-the-worst-is-yet-to-come/80612.html</a:t>
            </a:r>
          </a:p>
          <a:p>
            <a:pPr>
              <a:spcBef>
                <a:spcPts val="1000"/>
              </a:spcBef>
            </a:pPr>
            <a:r>
              <a:rPr sz="1250" b="1">
                <a:solidFill>
                  <a:srgbClr val="E0701B"/>
                </a:solidFill>
                <a:latin typeface="Calibri"/>
              </a:rPr>
              <a:t>[4] </a:t>
            </a:r>
            <a:r>
              <a:rPr sz="1250">
                <a:solidFill>
                  <a:srgbClr val="1E1612"/>
                </a:solidFill>
                <a:latin typeface="Calibri"/>
              </a:rPr>
              <a:t>PTI via The Tribune, “CBI, ED, police don't arrest people through video calls: I4C” (Oct 2024)</a:t>
            </a:r>
          </a:p>
          <a:p>
            <a:pPr>
              <a:spcBef>
                <a:spcPts val="100"/>
              </a:spcBef>
            </a:pPr>
            <a:r>
              <a:rPr sz="1050">
                <a:solidFill>
                  <a:srgbClr val="5B4636"/>
                </a:solidFill>
                <a:latin typeface="Calibri"/>
              </a:rPr>
              <a:t>https://www.tribuneindia.com/news/india/cbi-ed-police-dont-arrest-people-through-video-calls-indian-cyber-crime-coordination-centre/amp</a:t>
            </a:r>
          </a:p>
          <a:p>
            <a:pPr>
              <a:spcBef>
                <a:spcPts val="1000"/>
              </a:spcBef>
            </a:pPr>
            <a:r>
              <a:rPr sz="1250" b="1">
                <a:solidFill>
                  <a:srgbClr val="E0701B"/>
                </a:solidFill>
                <a:latin typeface="Calibri"/>
              </a:rPr>
              <a:t>[5] </a:t>
            </a:r>
            <a:r>
              <a:rPr sz="1250">
                <a:solidFill>
                  <a:srgbClr val="1E1612"/>
                </a:solidFill>
                <a:latin typeface="Calibri"/>
              </a:rPr>
              <a:t>Gujarat Cyber Crime, “Digital Arrest” awareness material (cites I4C and MHA)</a:t>
            </a:r>
          </a:p>
          <a:p>
            <a:pPr>
              <a:spcBef>
                <a:spcPts val="100"/>
              </a:spcBef>
            </a:pPr>
            <a:r>
              <a:rPr sz="1050">
                <a:solidFill>
                  <a:srgbClr val="5B4636"/>
                </a:solidFill>
                <a:latin typeface="Calibri"/>
              </a:rPr>
              <a:t>https://gujaratcybercrime.org/Digital_Arrest_Awareness_Watermarked.pdf</a:t>
            </a:r>
          </a:p>
          <a:p>
            <a:pPr>
              <a:spcBef>
                <a:spcPts val="1000"/>
              </a:spcBef>
            </a:pPr>
            <a:r>
              <a:rPr sz="1250" b="1">
                <a:solidFill>
                  <a:srgbClr val="E0701B"/>
                </a:solidFill>
                <a:latin typeface="Calibri"/>
              </a:rPr>
              <a:t>[6] </a:t>
            </a:r>
            <a:r>
              <a:rPr sz="1250">
                <a:solidFill>
                  <a:srgbClr val="1E1612"/>
                </a:solidFill>
                <a:latin typeface="Calibri"/>
              </a:rPr>
              <a:t>CyberSecure India, “Digital Arrest: A Global Trend and Its Solutions for Indian Residents”</a:t>
            </a:r>
          </a:p>
          <a:p>
            <a:pPr>
              <a:spcBef>
                <a:spcPts val="100"/>
              </a:spcBef>
            </a:pPr>
            <a:r>
              <a:rPr sz="1050">
                <a:solidFill>
                  <a:srgbClr val="5B4636"/>
                </a:solidFill>
                <a:latin typeface="Calibri"/>
              </a:rPr>
              <a:t>https://cybersecureindia.in/digital-arrest-a-global-trend-and-its-solutions-for-indian-residents/</a:t>
            </a:r>
          </a:p>
        </p:txBody>
      </p:sp>
      <p:sp>
        <p:nvSpPr>
          <p:cNvPr id="119" name="TextBox 118"/>
          <p:cNvSpPr txBox="1"/>
          <p:nvPr/>
        </p:nvSpPr>
        <p:spPr>
          <a:xfrm>
            <a:off x="6263640" y="1645920"/>
            <a:ext cx="5394960" cy="4389120"/>
          </a:xfrm>
          <a:prstGeom prst="rect">
            <a:avLst/>
          </a:prstGeom>
          <a:noFill/>
        </p:spPr>
        <p:txBody>
          <a:bodyPr wrap="square" lIns="0" tIns="0" rIns="0" bIns="0">
            <a:spAutoFit/>
          </a:bodyPr>
          <a:lstStyle/>
          <a:p>
            <a:pPr>
              <a:spcBef>
                <a:spcPts val="0"/>
              </a:spcBef>
            </a:pPr>
            <a:r>
              <a:rPr sz="1250" b="1">
                <a:solidFill>
                  <a:srgbClr val="E0701B"/>
                </a:solidFill>
                <a:latin typeface="Calibri"/>
              </a:rPr>
              <a:t>[7] </a:t>
            </a:r>
            <a:r>
              <a:rPr sz="1250">
                <a:solidFill>
                  <a:srgbClr val="1E1612"/>
                </a:solidFill>
                <a:latin typeface="Calibri"/>
              </a:rPr>
              <a:t>OpenAI, Whisper (GitHub) and whisper-small model card (Hugging Face)</a:t>
            </a:r>
          </a:p>
          <a:p>
            <a:pPr>
              <a:spcBef>
                <a:spcPts val="100"/>
              </a:spcBef>
            </a:pPr>
            <a:r>
              <a:rPr sz="1050">
                <a:solidFill>
                  <a:srgbClr val="5B4636"/>
                </a:solidFill>
                <a:latin typeface="Calibri"/>
              </a:rPr>
              <a:t>https://github.com/openai/whisper</a:t>
            </a:r>
          </a:p>
          <a:p>
            <a:pPr>
              <a:spcBef>
                <a:spcPts val="1000"/>
              </a:spcBef>
            </a:pPr>
            <a:r>
              <a:rPr sz="1250" b="1">
                <a:solidFill>
                  <a:srgbClr val="E0701B"/>
                </a:solidFill>
                <a:latin typeface="Calibri"/>
              </a:rPr>
              <a:t>[8] </a:t>
            </a:r>
            <a:r>
              <a:rPr sz="1250">
                <a:solidFill>
                  <a:srgbClr val="1E1612"/>
                </a:solidFill>
                <a:latin typeface="Calibri"/>
              </a:rPr>
              <a:t>Alpha Cephei, </a:t>
            </a:r>
            <a:r>
              <a:rPr lang="en-US" sz="1250">
                <a:solidFill>
                  <a:srgbClr val="1E1612"/>
                </a:solidFill>
                <a:latin typeface="Calibri"/>
              </a:rPr>
              <a:t>Vosk model catalogue (Hindi models with reported word error rates)</a:t>
            </a:r>
            <a:endParaRPr sz="1250">
              <a:solidFill>
                <a:srgbClr val="1E1612"/>
              </a:solidFill>
              <a:latin typeface="Calibri"/>
            </a:endParaRPr>
          </a:p>
          <a:p>
            <a:pPr>
              <a:spcBef>
                <a:spcPts val="100"/>
              </a:spcBef>
            </a:pPr>
            <a:r>
              <a:rPr lang="en-IN" sz="1050">
                <a:solidFill>
                  <a:srgbClr val="5B4636"/>
                </a:solidFill>
                <a:latin typeface="Calibri"/>
              </a:rPr>
              <a:t>https://alphacephei.com/vosk/models</a:t>
            </a:r>
            <a:endParaRPr sz="1050">
              <a:solidFill>
                <a:srgbClr val="5B4636"/>
              </a:solidFill>
              <a:latin typeface="Calibri"/>
            </a:endParaRPr>
          </a:p>
          <a:p>
            <a:pPr>
              <a:spcBef>
                <a:spcPts val="1000"/>
              </a:spcBef>
            </a:pPr>
            <a:r>
              <a:rPr sz="1250" b="1">
                <a:solidFill>
                  <a:srgbClr val="E0701B"/>
                </a:solidFill>
                <a:latin typeface="Calibri"/>
              </a:rPr>
              <a:t>[9] </a:t>
            </a:r>
            <a:r>
              <a:rPr sz="1250">
                <a:solidFill>
                  <a:srgbClr val="1E1612"/>
                </a:solidFill>
                <a:latin typeface="Calibri"/>
              </a:rPr>
              <a:t>Khanuja et al., “MuRIL: Multilingual Representations for Indian Languages” (2021)</a:t>
            </a:r>
          </a:p>
          <a:p>
            <a:pPr>
              <a:spcBef>
                <a:spcPts val="100"/>
              </a:spcBef>
            </a:pPr>
            <a:r>
              <a:rPr sz="1050">
                <a:solidFill>
                  <a:srgbClr val="5B4636"/>
                </a:solidFill>
                <a:latin typeface="Calibri"/>
              </a:rPr>
              <a:t>https://huggingface.co/google/muril-base-cased</a:t>
            </a:r>
          </a:p>
          <a:p>
            <a:pPr>
              <a:spcBef>
                <a:spcPts val="1000"/>
              </a:spcBef>
            </a:pPr>
            <a:r>
              <a:rPr sz="1250" b="1">
                <a:solidFill>
                  <a:srgbClr val="E0701B"/>
                </a:solidFill>
                <a:latin typeface="Calibri"/>
              </a:rPr>
              <a:t>[10] </a:t>
            </a:r>
            <a:r>
              <a:rPr sz="1250">
                <a:solidFill>
                  <a:srgbClr val="1E1612"/>
                </a:solidFill>
                <a:latin typeface="Calibri"/>
              </a:rPr>
              <a:t>Engadget, “Google is banning third-party call recording apps from the Play Store” (2022)</a:t>
            </a:r>
          </a:p>
          <a:p>
            <a:pPr>
              <a:spcBef>
                <a:spcPts val="100"/>
              </a:spcBef>
            </a:pPr>
            <a:r>
              <a:rPr sz="1050">
                <a:solidFill>
                  <a:srgbClr val="5B4636"/>
                </a:solidFill>
                <a:latin typeface="Calibri"/>
              </a:rPr>
              <a:t>https://www.engadget.com/google-is-banning-third-party-call-recording-apps-from-the-play-store-093201443.html</a:t>
            </a:r>
          </a:p>
          <a:p>
            <a:pPr>
              <a:spcBef>
                <a:spcPts val="1000"/>
              </a:spcBef>
            </a:pPr>
            <a:r>
              <a:rPr sz="1250" b="1">
                <a:solidFill>
                  <a:srgbClr val="E0701B"/>
                </a:solidFill>
                <a:latin typeface="Calibri"/>
              </a:rPr>
              <a:t>[11] </a:t>
            </a:r>
            <a:r>
              <a:rPr sz="1250">
                <a:solidFill>
                  <a:srgbClr val="1E1612"/>
                </a:solidFill>
                <a:latin typeface="Calibri"/>
              </a:rPr>
              <a:t>The Register, “Google bans third-party call-recording apps from Play Store” (April 2022)</a:t>
            </a:r>
          </a:p>
          <a:p>
            <a:pPr>
              <a:spcBef>
                <a:spcPts val="100"/>
              </a:spcBef>
            </a:pPr>
            <a:r>
              <a:rPr sz="1050">
                <a:solidFill>
                  <a:srgbClr val="5B4636"/>
                </a:solidFill>
                <a:latin typeface="Calibri"/>
              </a:rPr>
              <a:t>https://www.theregister.com/2022/04/22/google_banning_thirdparty_callrecording_apps/</a:t>
            </a:r>
          </a:p>
          <a:p>
            <a:pPr>
              <a:spcBef>
                <a:spcPts val="1000"/>
              </a:spcBef>
            </a:pPr>
            <a:r>
              <a:rPr sz="1250" b="1">
                <a:solidFill>
                  <a:srgbClr val="E0701B"/>
                </a:solidFill>
                <a:latin typeface="Calibri"/>
              </a:rPr>
              <a:t>[12] </a:t>
            </a:r>
            <a:r>
              <a:rPr sz="1250">
                <a:solidFill>
                  <a:srgbClr val="1E1612"/>
                </a:solidFill>
                <a:latin typeface="Calibri"/>
              </a:rPr>
              <a:t>FastAPI documentation, “WebSockets”</a:t>
            </a:r>
          </a:p>
          <a:p>
            <a:pPr>
              <a:spcBef>
                <a:spcPts val="100"/>
              </a:spcBef>
            </a:pPr>
            <a:r>
              <a:rPr sz="1050">
                <a:solidFill>
                  <a:srgbClr val="5B4636"/>
                </a:solidFill>
                <a:latin typeface="Calibri"/>
              </a:rPr>
              <a:t>https://fastapi.tiangolo.com/advanced/websockets/</a:t>
            </a:r>
          </a:p>
          <a:p>
            <a:pPr>
              <a:spcBef>
                <a:spcPts val="1000"/>
              </a:spcBef>
            </a:pPr>
            <a:r>
              <a:rPr sz="1250" b="1">
                <a:solidFill>
                  <a:srgbClr val="E0701B"/>
                </a:solidFill>
                <a:latin typeface="Calibri"/>
              </a:rPr>
              <a:t>[13] </a:t>
            </a:r>
            <a:r>
              <a:rPr sz="1250">
                <a:solidFill>
                  <a:srgbClr val="1E1612"/>
                </a:solidFill>
                <a:latin typeface="Calibri"/>
              </a:rPr>
              <a:t>Telegram, “Bot API” documentation</a:t>
            </a:r>
          </a:p>
          <a:p>
            <a:pPr>
              <a:spcBef>
                <a:spcPts val="100"/>
              </a:spcBef>
            </a:pPr>
            <a:r>
              <a:rPr sz="1050">
                <a:solidFill>
                  <a:srgbClr val="5B4636"/>
                </a:solidFill>
                <a:latin typeface="Calibri"/>
              </a:rPr>
              <a:t>https://core.telegram.org/bots/api</a:t>
            </a:r>
          </a:p>
        </p:txBody>
      </p:sp>
      <p:sp>
        <p:nvSpPr>
          <p:cNvPr id="120" name="TextBox 119"/>
          <p:cNvSpPr txBox="1"/>
          <p:nvPr/>
        </p:nvSpPr>
        <p:spPr>
          <a:xfrm>
            <a:off x="548640" y="6053328"/>
            <a:ext cx="11064240" cy="274320"/>
          </a:xfrm>
          <a:prstGeom prst="rect">
            <a:avLst/>
          </a:prstGeom>
          <a:noFill/>
        </p:spPr>
        <p:txBody>
          <a:bodyPr wrap="square" lIns="0" tIns="0" rIns="0" bIns="0">
            <a:spAutoFit/>
          </a:bodyPr>
          <a:lstStyle/>
          <a:p>
            <a:pPr algn="l"/>
            <a:r>
              <a:rPr sz="1000" b="0" i="0">
                <a:solidFill>
                  <a:srgbClr val="5B4636"/>
                </a:solidFill>
                <a:latin typeface="Calibri"/>
              </a:rPr>
              <a:t>Where a slide uses a number or claim from a source, the source number is shown in square brackets. Our own assessments and plans are marked as such on the slides.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pic>
        <p:nvPicPr>
          <p:cNvPr id="123" name="Google Shape;123;p16" descr="/home/claude/cy/warrior.png"/>
          <p:cNvPicPr preferRelativeResize="0"/>
          <p:nvPr/>
        </p:nvPicPr>
        <p:blipFill rotWithShape="1">
          <a:blip r:embed="rId3">
            <a:alphaModFix/>
          </a:blip>
          <a:srcRect/>
          <a:stretch/>
        </p:blipFill>
        <p:spPr>
          <a:xfrm>
            <a:off x="5431881" y="1828800"/>
            <a:ext cx="6939951" cy="5029200"/>
          </a:xfrm>
          <a:prstGeom prst="rect">
            <a:avLst/>
          </a:prstGeom>
          <a:noFill/>
          <a:ln>
            <a:noFill/>
          </a:ln>
        </p:spPr>
      </p:pic>
      <p:sp>
        <p:nvSpPr>
          <p:cNvPr id="124" name="Google Shape;124;p16"/>
          <p:cNvSpPr/>
          <p:nvPr/>
        </p:nvSpPr>
        <p:spPr>
          <a:xfrm>
            <a:off x="640080" y="502920"/>
            <a:ext cx="4133088" cy="1234440"/>
          </a:xfrm>
          <a:prstGeom prst="roundRect">
            <a:avLst>
              <a:gd name="adj" fmla="val 11111"/>
            </a:avLst>
          </a:prstGeom>
          <a:solidFill>
            <a:schemeClr val="lt1"/>
          </a:solidFill>
          <a:ln>
            <a:noFill/>
          </a:ln>
          <a:effectLst>
            <a:outerShdw blurRad="152400" dist="38100" dir="5400000" algn="bl" rotWithShape="0">
              <a:srgbClr val="000000">
                <a:alpha val="45098"/>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25" name="Google Shape;125;p16" descr="/home/claude/cy/cu.png"/>
          <p:cNvPicPr preferRelativeResize="0"/>
          <p:nvPr/>
        </p:nvPicPr>
        <p:blipFill rotWithShape="1">
          <a:blip r:embed="rId4">
            <a:alphaModFix/>
          </a:blip>
          <a:srcRect/>
          <a:stretch/>
        </p:blipFill>
        <p:spPr>
          <a:xfrm>
            <a:off x="868680" y="790956"/>
            <a:ext cx="1851660" cy="658368"/>
          </a:xfrm>
          <a:prstGeom prst="rect">
            <a:avLst/>
          </a:prstGeom>
          <a:noFill/>
          <a:ln>
            <a:noFill/>
          </a:ln>
        </p:spPr>
      </p:pic>
      <p:cxnSp>
        <p:nvCxnSpPr>
          <p:cNvPr id="126" name="Google Shape;126;p16"/>
          <p:cNvCxnSpPr/>
          <p:nvPr/>
        </p:nvCxnSpPr>
        <p:spPr>
          <a:xfrm>
            <a:off x="2948940" y="731520"/>
            <a:ext cx="0" cy="777240"/>
          </a:xfrm>
          <a:prstGeom prst="straightConnector1">
            <a:avLst/>
          </a:prstGeom>
          <a:noFill/>
          <a:ln w="12700" cap="flat" cmpd="sng">
            <a:solidFill>
              <a:srgbClr val="D0C8C0"/>
            </a:solidFill>
            <a:prstDash val="solid"/>
            <a:round/>
            <a:headEnd type="none" w="sm" len="sm"/>
            <a:tailEnd type="none" w="sm" len="sm"/>
          </a:ln>
        </p:spPr>
      </p:cxnSp>
      <p:pic>
        <p:nvPicPr>
          <p:cNvPr id="127" name="Google Shape;127;p16" descr="/home/claude/cy/logo_w.png"/>
          <p:cNvPicPr preferRelativeResize="0"/>
          <p:nvPr/>
        </p:nvPicPr>
        <p:blipFill rotWithShape="1">
          <a:blip r:embed="rId5">
            <a:alphaModFix/>
          </a:blip>
          <a:srcRect/>
          <a:stretch/>
        </p:blipFill>
        <p:spPr>
          <a:xfrm>
            <a:off x="3177540" y="640080"/>
            <a:ext cx="1367028" cy="960120"/>
          </a:xfrm>
          <a:prstGeom prst="rect">
            <a:avLst/>
          </a:prstGeom>
          <a:noFill/>
          <a:ln>
            <a:noFill/>
          </a:ln>
        </p:spPr>
      </p:pic>
      <p:sp>
        <p:nvSpPr>
          <p:cNvPr id="128" name="Google Shape;128;p16"/>
          <p:cNvSpPr txBox="1"/>
          <p:nvPr/>
        </p:nvSpPr>
        <p:spPr>
          <a:xfrm>
            <a:off x="640080" y="2651760"/>
            <a:ext cx="5029200" cy="10058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lt1"/>
              </a:buClr>
              <a:buSzPts val="6000"/>
              <a:buFont typeface="Cambria"/>
              <a:buNone/>
            </a:pPr>
            <a:r>
              <a:rPr lang="en-US" sz="6000" b="1">
                <a:solidFill>
                  <a:schemeClr val="lt1"/>
                </a:solidFill>
                <a:latin typeface="Cambria"/>
                <a:ea typeface="Cambria"/>
                <a:cs typeface="Cambria"/>
                <a:sym typeface="Cambria"/>
              </a:rPr>
              <a:t>Thank You</a:t>
            </a:r>
            <a:endParaRPr sz="6000">
              <a:solidFill>
                <a:schemeClr val="dk1"/>
              </a:solidFill>
              <a:latin typeface="Calibri"/>
              <a:ea typeface="Calibri"/>
              <a:cs typeface="Calibri"/>
              <a:sym typeface="Calibri"/>
            </a:endParaRPr>
          </a:p>
        </p:txBody>
      </p:sp>
      <p:sp>
        <p:nvSpPr>
          <p:cNvPr id="129" name="Google Shape;129;p16"/>
          <p:cNvSpPr txBox="1"/>
          <p:nvPr/>
        </p:nvSpPr>
        <p:spPr>
          <a:xfrm>
            <a:off x="640080" y="3703320"/>
            <a:ext cx="502920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5"/>
              </a:buClr>
              <a:buSzPts val="2000"/>
              <a:buFont typeface="Calibri"/>
              <a:buNone/>
            </a:pPr>
            <a:r>
              <a:rPr lang="en-US" sz="2000" i="1">
                <a:solidFill>
                  <a:schemeClr val="accent5"/>
                </a:solidFill>
                <a:latin typeface="Calibri"/>
                <a:ea typeface="Calibri"/>
                <a:cs typeface="Calibri"/>
                <a:sym typeface="Calibri"/>
              </a:rPr>
              <a:t>CodeVators  ·  Nazar</a:t>
            </a:r>
            <a:endParaRPr sz="2000">
              <a:solidFill>
                <a:schemeClr val="dk1"/>
              </a:solidFill>
              <a:latin typeface="Calibri"/>
              <a:ea typeface="Calibri"/>
              <a:cs typeface="Calibri"/>
              <a:sym typeface="Calibri"/>
            </a:endParaRPr>
          </a:p>
        </p:txBody>
      </p:sp>
      <p:sp>
        <p:nvSpPr>
          <p:cNvPr id="130" name="Google Shape;130;p16"/>
          <p:cNvSpPr txBox="1"/>
          <p:nvPr/>
        </p:nvSpPr>
        <p:spPr>
          <a:xfrm>
            <a:off x="640080" y="6172200"/>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1"/>
              </a:buClr>
              <a:buSzPts val="1100"/>
              <a:buFont typeface="Calibri"/>
              <a:buNone/>
            </a:pPr>
            <a:r>
              <a:rPr lang="en-US" sz="1100" spc="300">
                <a:solidFill>
                  <a:schemeClr val="accent1"/>
                </a:solidFill>
                <a:latin typeface="Calibri"/>
                <a:ea typeface="Calibri"/>
                <a:cs typeface="Calibri"/>
                <a:sym typeface="Calibri"/>
              </a:rPr>
              <a:t>CODE YUDH HACKATHON  ·  CHANDIGARH UNIVERSITY</a:t>
            </a:r>
            <a:endParaRPr sz="1100">
              <a:solidFill>
                <a:schemeClr val="dk1"/>
              </a:solidFill>
              <a:latin typeface="Calibri"/>
              <a:ea typeface="Calibri"/>
              <a:cs typeface="Calibri"/>
              <a:sym typeface="Calibri"/>
            </a:endParaRPr>
          </a:p>
        </p:txBody>
      </p:sp>
      <p:sp>
        <p:nvSpPr>
          <p:cNvPr id="131" name="Google Shape;131;p16"/>
          <p:cNvSpPr txBox="1"/>
          <p:nvPr/>
        </p:nvSpPr>
        <p:spPr>
          <a:xfrm>
            <a:off x="640080" y="4800600"/>
            <a:ext cx="4572000" cy="10515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1"/>
              </a:buClr>
              <a:buSzPts val="1100"/>
              <a:buFont typeface="Calibri"/>
              <a:buNone/>
            </a:pPr>
            <a:r>
              <a:rPr lang="en-US" sz="1100" b="1" spc="300">
                <a:solidFill>
                  <a:schemeClr val="accent1"/>
                </a:solidFill>
                <a:latin typeface="Calibri"/>
                <a:ea typeface="Calibri"/>
                <a:cs typeface="Calibri"/>
                <a:sym typeface="Calibri"/>
              </a:rPr>
              <a:t>ORGANISED BY</a:t>
            </a:r>
            <a:endParaRPr/>
          </a:p>
          <a:p>
            <a:pPr marL="0" marR="0" lvl="0" indent="0" algn="l" rtl="0">
              <a:spcBef>
                <a:spcPts val="400"/>
              </a:spcBef>
              <a:spcAft>
                <a:spcPts val="0"/>
              </a:spcAft>
              <a:buClr>
                <a:schemeClr val="lt1"/>
              </a:buClr>
              <a:buSzPts val="1800"/>
              <a:buFont typeface="Calibri"/>
              <a:buNone/>
            </a:pPr>
            <a:r>
              <a:rPr lang="en-US" sz="1800" b="1">
                <a:solidFill>
                  <a:schemeClr val="lt1"/>
                </a:solidFill>
                <a:latin typeface="Calibri"/>
                <a:ea typeface="Calibri"/>
                <a:cs typeface="Calibri"/>
                <a:sym typeface="Calibri"/>
              </a:rPr>
              <a:t>Department of Computer Science &amp; Engineering</a:t>
            </a:r>
            <a:endParaRPr/>
          </a:p>
          <a:p>
            <a:pPr marL="0" marR="0" lvl="0" indent="0" algn="l" rtl="0">
              <a:spcBef>
                <a:spcPts val="200"/>
              </a:spcBef>
              <a:spcAft>
                <a:spcPts val="0"/>
              </a:spcAft>
              <a:buClr>
                <a:schemeClr val="accent5"/>
              </a:buClr>
              <a:buSzPts val="1400"/>
              <a:buFont typeface="Calibri"/>
              <a:buNone/>
            </a:pPr>
            <a:r>
              <a:rPr lang="en-US" sz="1400">
                <a:solidFill>
                  <a:schemeClr val="accent5"/>
                </a:solidFill>
                <a:latin typeface="Calibri"/>
                <a:ea typeface="Calibri"/>
                <a:cs typeface="Calibri"/>
                <a:sym typeface="Calibri"/>
              </a:rPr>
              <a:t>Chandigarh University</a:t>
            </a:r>
            <a:endParaRPr/>
          </a:p>
        </p:txBody>
      </p:sp>
      <p:sp>
        <p:nvSpPr>
          <p:cNvPr id="2" name="Demo link">
            <a:extLst>
              <a:ext uri="{FF2B5EF4-FFF2-40B4-BE49-F238E27FC236}">
                <a16:creationId xmlns:a16="http://schemas.microsoft.com/office/drawing/2014/main" id="{E3F0547C-ECAC-5B94-8EF2-4CA62F6E036F}"/>
              </a:ext>
            </a:extLst>
          </p:cNvPr>
          <p:cNvSpPr txBox="1"/>
          <p:nvPr/>
        </p:nvSpPr>
        <p:spPr>
          <a:xfrm>
            <a:off x="640080" y="4135120"/>
            <a:ext cx="502920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5"/>
              </a:buClr>
              <a:buSzPts val="2000"/>
              <a:buFont typeface="Calibri"/>
              <a:buNone/>
            </a:pPr>
            <a:r>
              <a:rPr lang="it-IT" sz="1600" i="1">
                <a:solidFill>
                  <a:schemeClr val="accent5"/>
                </a:solidFill>
                <a:latin typeface="Calibri"/>
                <a:ea typeface="Calibri"/>
                <a:cs typeface="Calibri"/>
                <a:sym typeface="Calibri"/>
              </a:rPr>
              <a:t>Live demo: nazar-codevators.vercel.app  ·  Code: github.com/Kunal039/Nazar_CodeVators</a:t>
            </a:r>
            <a:endParaRPr sz="16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Code Yudh Ember Brown">
  <a:themeElements>
    <a:clrScheme name="Code Yudh Ember Brown">
      <a:dk1>
        <a:srgbClr val="1E1612"/>
      </a:dk1>
      <a:lt1>
        <a:srgbClr val="FFFFFF"/>
      </a:lt1>
      <a:dk2>
        <a:srgbClr val="4A3B32"/>
      </a:dk2>
      <a:lt2>
        <a:srgbClr val="FFF4E8"/>
      </a:lt2>
      <a:accent1>
        <a:srgbClr val="E0701B"/>
      </a:accent1>
      <a:accent2>
        <a:srgbClr val="C9962B"/>
      </a:accent2>
      <a:accent3>
        <a:srgbClr val="8B2E16"/>
      </a:accent3>
      <a:accent4>
        <a:srgbClr val="5B4636"/>
      </a:accent4>
      <a:accent5>
        <a:srgbClr val="F2C27A"/>
      </a:accent5>
      <a:accent6>
        <a:srgbClr val="2E2420"/>
      </a:accent6>
      <a:hlink>
        <a:srgbClr val="E0701B"/>
      </a:hlink>
      <a:folHlink>
        <a:srgbClr val="8B2E1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4310</Words>
  <Application>Microsoft Office PowerPoint</Application>
  <PresentationFormat>Widescreen</PresentationFormat>
  <Paragraphs>310</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Cambria</vt:lpstr>
      <vt:lpstr>Code Yudh Ember Brown</vt:lpstr>
      <vt:lpstr>PowerPoint Presentation</vt:lpstr>
      <vt:lpstr>Team Introduction &amp; Contributions</vt:lpstr>
      <vt:lpstr>Problem Statement</vt:lpstr>
      <vt:lpstr>Problem Context &amp; Existing Solutions</vt:lpstr>
      <vt:lpstr>Proposed Solution</vt:lpstr>
      <vt:lpstr>Key Features &amp; Innovation</vt:lpstr>
      <vt:lpstr>Proposed Workflow</vt:lpstr>
      <vt:lpstr>Proposed Tech Stack</vt:lpstr>
      <vt:lpstr>Feasibility &amp; Execution Plan</vt:lpstr>
      <vt:lpstr>Working Prototype</vt:lpstr>
      <vt:lpstr>What We Built at the Venue</vt:lpstr>
      <vt:lpstr>Privacy by Design</vt:lpstr>
      <vt:lpstr>How It Works</vt:lpstr>
      <vt:lpstr>Why Nazar</vt:lpstr>
      <vt:lpstr>Expected Impact &amp; 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Kunal Mittal</cp:lastModifiedBy>
  <cp:revision>6</cp:revision>
  <dcterms:modified xsi:type="dcterms:W3CDTF">2026-10-27T21:45:44Z</dcterms:modified>
</cp:coreProperties>
</file>